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63" r:id="rId13"/>
    <p:sldId id="264" r:id="rId14"/>
    <p:sldId id="276" r:id="rId15"/>
    <p:sldId id="277" r:id="rId16"/>
    <p:sldId id="278" r:id="rId17"/>
    <p:sldId id="279" r:id="rId18"/>
    <p:sldId id="280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28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7" Type="http://schemas.openxmlformats.org/officeDocument/2006/relationships/image" Target="../media/image15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tmp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34000" y="714375"/>
            <a:ext cx="3000375" cy="3476625"/>
          </a:xfrm>
          <a:prstGeom prst="roundRect">
            <a:avLst>
              <a:gd name="adj" fmla="val 4444"/>
            </a:avLst>
          </a:prstGeom>
          <a:solidFill>
            <a:srgbClr val="0D23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2"/>
          <p:cNvSpPr/>
          <p:nvPr/>
        </p:nvSpPr>
        <p:spPr>
          <a:xfrm>
            <a:off x="571500" y="838200"/>
            <a:ext cx="335050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DASHBOARD PROJECT</a:t>
            </a:r>
            <a:endParaRPr lang="en-US" sz="1280" dirty="0"/>
          </a:p>
        </p:txBody>
      </p:sp>
      <p:sp>
        <p:nvSpPr>
          <p:cNvPr id="7" name="Text 3"/>
          <p:cNvSpPr/>
          <p:nvPr/>
        </p:nvSpPr>
        <p:spPr>
          <a:xfrm>
            <a:off x="571500" y="1181100"/>
            <a:ext cx="4370516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 SALES &amp;</a:t>
            </a:r>
            <a:endParaRPr lang="en-US" sz="3230" dirty="0"/>
          </a:p>
        </p:txBody>
      </p:sp>
      <p:sp>
        <p:nvSpPr>
          <p:cNvPr id="8" name="Text 4"/>
          <p:cNvSpPr/>
          <p:nvPr/>
        </p:nvSpPr>
        <p:spPr>
          <a:xfrm>
            <a:off x="571500" y="1669703"/>
            <a:ext cx="490460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ANALYSIS</a:t>
            </a:r>
            <a:endParaRPr lang="en-US" sz="3230" dirty="0"/>
          </a:p>
        </p:txBody>
      </p:sp>
      <p:sp>
        <p:nvSpPr>
          <p:cNvPr id="9" name="Text 5"/>
          <p:cNvSpPr/>
          <p:nvPr/>
        </p:nvSpPr>
        <p:spPr>
          <a:xfrm>
            <a:off x="571500" y="2158305"/>
            <a:ext cx="315712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3230" dirty="0"/>
          </a:p>
        </p:txBody>
      </p:sp>
      <p:sp>
        <p:nvSpPr>
          <p:cNvPr id="10" name="Shape 6"/>
          <p:cNvSpPr/>
          <p:nvPr/>
        </p:nvSpPr>
        <p:spPr>
          <a:xfrm>
            <a:off x="571500" y="2914650"/>
            <a:ext cx="457200" cy="381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" y="3043238"/>
            <a:ext cx="3569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Dashboard Project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71500" y="3381375"/>
            <a:ext cx="376880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  </a:t>
            </a:r>
            <a:r>
              <a:rPr lang="en-US" sz="1650" b="1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Divyabharathi</a:t>
            </a: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.E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71500" y="3719512"/>
            <a:ext cx="317260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Used: Power BI, Excel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34050" y="1057275"/>
            <a:ext cx="2595369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OVERVIEW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734050" y="1400175"/>
            <a:ext cx="619125" cy="552450"/>
          </a:xfrm>
          <a:prstGeom prst="roundRect">
            <a:avLst>
              <a:gd name="adj" fmla="val 12069"/>
            </a:avLst>
          </a:prstGeom>
          <a:solidFill>
            <a:srgbClr val="E7F1FF"/>
          </a:solidFill>
          <a:ln/>
        </p:spPr>
      </p:sp>
      <p:sp>
        <p:nvSpPr>
          <p:cNvPr id="16" name="Text 12"/>
          <p:cNvSpPr/>
          <p:nvPr/>
        </p:nvSpPr>
        <p:spPr>
          <a:xfrm>
            <a:off x="5819775" y="1590675"/>
            <a:ext cx="6094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448425" y="1400175"/>
            <a:ext cx="619125" cy="552450"/>
          </a:xfrm>
          <a:prstGeom prst="roundRect">
            <a:avLst>
              <a:gd name="adj" fmla="val 12069"/>
            </a:avLst>
          </a:prstGeom>
          <a:solidFill>
            <a:srgbClr val="E7F1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4"/>
          <p:cNvSpPr/>
          <p:nvPr/>
        </p:nvSpPr>
        <p:spPr>
          <a:xfrm>
            <a:off x="6534150" y="1590675"/>
            <a:ext cx="7725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ORDERS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7162800" y="1400175"/>
            <a:ext cx="619125" cy="552450"/>
          </a:xfrm>
          <a:prstGeom prst="roundRect">
            <a:avLst>
              <a:gd name="adj" fmla="val 12069"/>
            </a:avLst>
          </a:prstGeom>
          <a:solidFill>
            <a:srgbClr val="E7F1FF"/>
          </a:solidFill>
          <a:ln/>
        </p:spPr>
      </p:sp>
      <p:sp>
        <p:nvSpPr>
          <p:cNvPr id="20" name="Text 16"/>
          <p:cNvSpPr/>
          <p:nvPr/>
        </p:nvSpPr>
        <p:spPr>
          <a:xfrm>
            <a:off x="7248525" y="1590675"/>
            <a:ext cx="5893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ITEMS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734050" y="2114550"/>
            <a:ext cx="2143125" cy="714375"/>
          </a:xfrm>
          <a:prstGeom prst="roundRect">
            <a:avLst>
              <a:gd name="adj" fmla="val 10667"/>
            </a:avLst>
          </a:prstGeom>
          <a:solidFill>
            <a:srgbClr val="E7F1FF"/>
          </a:solidFill>
          <a:ln/>
        </p:spPr>
      </p:sp>
      <p:sp>
        <p:nvSpPr>
          <p:cNvPr id="22" name="Shape 18"/>
          <p:cNvSpPr/>
          <p:nvPr/>
        </p:nvSpPr>
        <p:spPr>
          <a:xfrm>
            <a:off x="5838825" y="2224088"/>
            <a:ext cx="180975" cy="28575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23" name="Text 19"/>
          <p:cNvSpPr/>
          <p:nvPr/>
        </p:nvSpPr>
        <p:spPr>
          <a:xfrm>
            <a:off x="5838825" y="2224088"/>
            <a:ext cx="21788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DASHBOARD</a:t>
            </a:r>
            <a:endParaRPr lang="en-US" sz="1430" dirty="0"/>
          </a:p>
        </p:txBody>
      </p:sp>
      <p:sp>
        <p:nvSpPr>
          <p:cNvPr id="24" name="Shape 20"/>
          <p:cNvSpPr/>
          <p:nvPr/>
        </p:nvSpPr>
        <p:spPr>
          <a:xfrm>
            <a:off x="5734050" y="2943225"/>
            <a:ext cx="2143125" cy="714375"/>
          </a:xfrm>
          <a:prstGeom prst="roundRect">
            <a:avLst>
              <a:gd name="adj" fmla="val 10667"/>
            </a:avLst>
          </a:prstGeom>
          <a:solidFill>
            <a:srgbClr val="E7F1FF"/>
          </a:solidFill>
          <a:ln/>
        </p:spPr>
      </p:sp>
      <p:sp>
        <p:nvSpPr>
          <p:cNvPr id="25" name="Shape 21"/>
          <p:cNvSpPr/>
          <p:nvPr/>
        </p:nvSpPr>
        <p:spPr>
          <a:xfrm>
            <a:off x="5838825" y="3052763"/>
            <a:ext cx="180975" cy="28575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26" name="Text 22"/>
          <p:cNvSpPr/>
          <p:nvPr/>
        </p:nvSpPr>
        <p:spPr>
          <a:xfrm>
            <a:off x="5838825" y="3052763"/>
            <a:ext cx="2525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DASHBOARD</a:t>
            </a:r>
            <a:endParaRPr lang="en-US" sz="1430" dirty="0"/>
          </a:p>
        </p:txBody>
      </p:sp>
      <p:sp>
        <p:nvSpPr>
          <p:cNvPr id="27" name="Shape 23"/>
          <p:cNvSpPr/>
          <p:nvPr/>
        </p:nvSpPr>
        <p:spPr>
          <a:xfrm>
            <a:off x="7858125" y="1571625"/>
            <a:ext cx="95250" cy="333375"/>
          </a:xfrm>
          <a:prstGeom prst="roundRect">
            <a:avLst>
              <a:gd name="adj" fmla="val 30000"/>
            </a:avLst>
          </a:prstGeom>
          <a:solidFill>
            <a:srgbClr val="1677E8"/>
          </a:solidFill>
          <a:ln/>
        </p:spPr>
      </p:sp>
      <p:sp>
        <p:nvSpPr>
          <p:cNvPr id="28" name="Shape 24"/>
          <p:cNvSpPr/>
          <p:nvPr/>
        </p:nvSpPr>
        <p:spPr>
          <a:xfrm>
            <a:off x="7991475" y="1428750"/>
            <a:ext cx="95250" cy="476250"/>
          </a:xfrm>
          <a:prstGeom prst="roundRect">
            <a:avLst>
              <a:gd name="adj" fmla="val 30000"/>
            </a:avLst>
          </a:prstGeom>
          <a:solidFill>
            <a:srgbClr val="F4C542"/>
          </a:solidFill>
          <a:ln/>
        </p:spPr>
      </p:sp>
      <p:sp>
        <p:nvSpPr>
          <p:cNvPr id="29" name="Shape 25"/>
          <p:cNvSpPr/>
          <p:nvPr/>
        </p:nvSpPr>
        <p:spPr>
          <a:xfrm>
            <a:off x="8124825" y="1285875"/>
            <a:ext cx="95250" cy="619125"/>
          </a:xfrm>
          <a:prstGeom prst="roundRect">
            <a:avLst>
              <a:gd name="adj" fmla="val 30000"/>
            </a:avLst>
          </a:prstGeom>
          <a:solidFill>
            <a:srgbClr val="1677E8"/>
          </a:solidFill>
          <a:ln/>
        </p:spPr>
      </p:sp>
      <p:sp>
        <p:nvSpPr>
          <p:cNvPr id="30" name="Text 26"/>
          <p:cNvSpPr/>
          <p:nvPr/>
        </p:nvSpPr>
        <p:spPr>
          <a:xfrm>
            <a:off x="7620000" y="4752975"/>
            <a:ext cx="6122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16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292089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4154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314450"/>
            <a:ext cx="436316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interactive view of Amazon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1588740"/>
            <a:ext cx="466373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and product performance.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" y="2276158"/>
            <a:ext cx="4377578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is an Amazon Sales and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Analysis Dashboard.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71500" y="2856291"/>
            <a:ext cx="4139215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dashboard was created using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Microsoft Power BI.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571500" y="3436423"/>
            <a:ext cx="4850532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helps analyze sales, orders, products,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brands, cities, and payment methods.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810125" y="1428750"/>
            <a:ext cx="16192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4900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4900" y="1571625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0175" y="1514475"/>
            <a:ext cx="7837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5210175" y="1759818"/>
            <a:ext cx="15449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730" dirty="0"/>
          </a:p>
        </p:txBody>
      </p:sp>
      <p:sp>
        <p:nvSpPr>
          <p:cNvPr id="18" name="Shape 16"/>
          <p:cNvSpPr/>
          <p:nvPr/>
        </p:nvSpPr>
        <p:spPr>
          <a:xfrm>
            <a:off x="6619875" y="1428750"/>
            <a:ext cx="1619250" cy="1571625"/>
          </a:xfrm>
          <a:prstGeom prst="roundRect">
            <a:avLst>
              <a:gd name="adj" fmla="val 4848"/>
            </a:avLst>
          </a:prstGeom>
          <a:solidFill>
            <a:srgbClr val="E7F1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4650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24650" y="1571625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19925" y="1514475"/>
            <a:ext cx="1160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730" dirty="0"/>
          </a:p>
        </p:txBody>
      </p:sp>
      <p:sp>
        <p:nvSpPr>
          <p:cNvPr id="22" name="Text 20"/>
          <p:cNvSpPr/>
          <p:nvPr/>
        </p:nvSpPr>
        <p:spPr>
          <a:xfrm>
            <a:off x="7019925" y="1759818"/>
            <a:ext cx="15449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4810125" y="3200876"/>
            <a:ext cx="422637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pages. One interactive sales</a:t>
            </a:r>
            <a:endParaRPr lang="en-US" sz="1650" dirty="0"/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product view.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200257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Objectives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389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428750"/>
            <a:ext cx="3762375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76275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1571625"/>
            <a:ext cx="18300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1514475"/>
            <a:ext cx="199056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&amp; ORDERS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24375" y="1428750"/>
            <a:ext cx="3762375" cy="2714625"/>
          </a:xfrm>
          <a:prstGeom prst="roundRect">
            <a:avLst>
              <a:gd name="adj" fmla="val 2807"/>
            </a:avLst>
          </a:prstGeom>
          <a:solidFill>
            <a:srgbClr val="E7F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9150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150" y="1571625"/>
            <a:ext cx="237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2525" y="1514475"/>
            <a:ext cx="28033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 &amp; DECISIONS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050" y="2014538"/>
            <a:ext cx="425123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overall sales performance.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781050" y="2342704"/>
            <a:ext cx="412238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 total orders and quantity.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781050" y="2670870"/>
            <a:ext cx="37983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 Average Order Value.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781050" y="3003482"/>
            <a:ext cx="3885277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cancelled and returned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orders.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4733925" y="2018983"/>
            <a:ext cx="4080108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top-performing products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brands.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4733925" y="2594670"/>
            <a:ext cx="425268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sales by city and category.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4733925" y="2922836"/>
            <a:ext cx="383971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payment methods.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4733925" y="3255448"/>
            <a:ext cx="3769772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an interactive business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dashboard.</a:t>
            </a:r>
            <a:endParaRPr lang="en-US" sz="1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004556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 Overview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4396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271588"/>
            <a:ext cx="55000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project uses an Amazon sales dataset.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71500" y="1714500"/>
            <a:ext cx="1857375" cy="23812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6275" y="18097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" y="1857375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9650" y="1804988"/>
            <a:ext cx="5954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2619375" y="1714500"/>
            <a:ext cx="1857375" cy="2381250"/>
          </a:xfrm>
          <a:prstGeom prst="roundRect">
            <a:avLst>
              <a:gd name="adj" fmla="val 4103"/>
            </a:avLst>
          </a:prstGeom>
          <a:solidFill>
            <a:srgbClr val="E7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24150" y="18097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150" y="1857375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57525" y="1804988"/>
            <a:ext cx="1103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4667250" y="1714500"/>
            <a:ext cx="1857375" cy="23812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72025" y="18097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72025" y="1857375"/>
            <a:ext cx="302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5400" y="1804988"/>
            <a:ext cx="9994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&amp;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5105400" y="2007617"/>
            <a:ext cx="12815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6715125" y="1714500"/>
            <a:ext cx="1857375" cy="2381250"/>
          </a:xfrm>
          <a:prstGeom prst="roundRect">
            <a:avLst>
              <a:gd name="adj" fmla="val 4103"/>
            </a:avLst>
          </a:prstGeom>
          <a:solidFill>
            <a:srgbClr val="E7F1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9900" y="18097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19900" y="1857375"/>
            <a:ext cx="3080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53275" y="1804988"/>
            <a:ext cx="1266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MEASURES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781050" y="2300288"/>
            <a:ext cx="137898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 Date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781050" y="2628454"/>
            <a:ext cx="5801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781050" y="2956620"/>
            <a:ext cx="8545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2828925" y="2300288"/>
            <a:ext cx="17904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Name</a:t>
            </a:r>
            <a:endParaRPr lang="en-US" sz="1580" dirty="0"/>
          </a:p>
        </p:txBody>
      </p:sp>
      <p:sp>
        <p:nvSpPr>
          <p:cNvPr id="30" name="Text 28"/>
          <p:cNvSpPr/>
          <p:nvPr/>
        </p:nvSpPr>
        <p:spPr>
          <a:xfrm>
            <a:off x="2828925" y="2628454"/>
            <a:ext cx="119276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Category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2828925" y="2956620"/>
            <a:ext cx="7690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</a:t>
            </a:r>
            <a:endParaRPr lang="en-US" sz="1580" dirty="0"/>
          </a:p>
        </p:txBody>
      </p:sp>
      <p:sp>
        <p:nvSpPr>
          <p:cNvPr id="32" name="Text 30"/>
          <p:cNvSpPr/>
          <p:nvPr/>
        </p:nvSpPr>
        <p:spPr>
          <a:xfrm>
            <a:off x="2828925" y="3284786"/>
            <a:ext cx="170353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Price</a:t>
            </a:r>
            <a:endParaRPr lang="en-US" sz="1580" dirty="0"/>
          </a:p>
        </p:txBody>
      </p:sp>
      <p:sp>
        <p:nvSpPr>
          <p:cNvPr id="33" name="Text 31"/>
          <p:cNvSpPr/>
          <p:nvPr/>
        </p:nvSpPr>
        <p:spPr>
          <a:xfrm>
            <a:off x="4876800" y="2300288"/>
            <a:ext cx="16201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 Status</a:t>
            </a:r>
            <a:endParaRPr lang="en-US" sz="1580" dirty="0"/>
          </a:p>
        </p:txBody>
      </p:sp>
      <p:sp>
        <p:nvSpPr>
          <p:cNvPr id="34" name="Text 32"/>
          <p:cNvSpPr/>
          <p:nvPr/>
        </p:nvSpPr>
        <p:spPr>
          <a:xfrm>
            <a:off x="4876800" y="2628454"/>
            <a:ext cx="5529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City</a:t>
            </a:r>
            <a:endParaRPr lang="en-US" sz="1580" dirty="0"/>
          </a:p>
        </p:txBody>
      </p:sp>
      <p:sp>
        <p:nvSpPr>
          <p:cNvPr id="35" name="Text 33"/>
          <p:cNvSpPr/>
          <p:nvPr/>
        </p:nvSpPr>
        <p:spPr>
          <a:xfrm>
            <a:off x="4876800" y="2961066"/>
            <a:ext cx="1127849" cy="528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</a:t>
            </a:r>
            <a:endParaRPr lang="en-US" sz="1580" dirty="0"/>
          </a:p>
          <a:p>
            <a:pPr marL="0" indent="0" algn="l">
              <a:lnSpc>
                <a:spcPts val="1984"/>
              </a:lnSpc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</a:t>
            </a:r>
            <a:endParaRPr lang="en-US" sz="1580" dirty="0"/>
          </a:p>
        </p:txBody>
      </p:sp>
      <p:sp>
        <p:nvSpPr>
          <p:cNvPr id="36" name="Text 34"/>
          <p:cNvSpPr/>
          <p:nvPr/>
        </p:nvSpPr>
        <p:spPr>
          <a:xfrm>
            <a:off x="6924675" y="2300288"/>
            <a:ext cx="72348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</a:t>
            </a:r>
            <a:endParaRPr lang="en-US" sz="1580" dirty="0"/>
          </a:p>
        </p:txBody>
      </p:sp>
      <p:sp>
        <p:nvSpPr>
          <p:cNvPr id="37" name="Text 35"/>
          <p:cNvSpPr/>
          <p:nvPr/>
        </p:nvSpPr>
        <p:spPr>
          <a:xfrm>
            <a:off x="6924675" y="2628454"/>
            <a:ext cx="11229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Quantity</a:t>
            </a:r>
            <a:endParaRPr lang="en-US" sz="1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744216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&amp; Technologies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398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42875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E7F1FF"/>
          </a:solidFill>
          <a:ln/>
        </p:spPr>
      </p:sp>
      <p:sp>
        <p:nvSpPr>
          <p:cNvPr id="9" name="Shape 7"/>
          <p:cNvSpPr/>
          <p:nvPr/>
        </p:nvSpPr>
        <p:spPr>
          <a:xfrm>
            <a:off x="676275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1571625"/>
            <a:ext cx="237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1514475"/>
            <a:ext cx="138972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BI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24375" y="142875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9150" y="15240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150" y="1571625"/>
            <a:ext cx="29280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2525" y="1514475"/>
            <a:ext cx="8759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81050" y="2033587"/>
            <a:ext cx="223811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Visualization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781050" y="2361754"/>
            <a:ext cx="25016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Creation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781050" y="2689920"/>
            <a:ext cx="15097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Analysis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781050" y="3018086"/>
            <a:ext cx="21733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Filters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781050" y="3346252"/>
            <a:ext cx="17025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Analysis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781050" y="3674418"/>
            <a:ext cx="180917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DAX Measures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4733925" y="2033587"/>
            <a:ext cx="211622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Preparation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4733925" y="2361754"/>
            <a:ext cx="2253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Organization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4733925" y="2689920"/>
            <a:ext cx="242404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Initial Data Analysis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4733925" y="3514725"/>
            <a:ext cx="32365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Preparation and initial analysis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3835167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Dashboard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4638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252537"/>
            <a:ext cx="548068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overview of Amazon sales performance.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71500" y="1581150"/>
            <a:ext cx="47476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977628"/>
            <a:ext cx="1279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Sales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21717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E7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38375" y="1977628"/>
            <a:ext cx="14266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Orders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37719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38575" y="2022872"/>
            <a:ext cx="16829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Quantity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3721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E7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38775" y="1909762"/>
            <a:ext cx="1661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Average Order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5438775" y="2135981"/>
            <a:ext cx="6748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69723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38975" y="1909762"/>
            <a:ext cx="11742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Cancelled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7038975" y="2135981"/>
            <a:ext cx="8046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Orders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4629150" y="3336131"/>
            <a:ext cx="8100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3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7D61AE6-961A-4A24-8307-0187C601F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6" y="2762251"/>
            <a:ext cx="1728927" cy="118509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9CA1D80-E039-408B-A1EC-8B40B97A7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613" y="2888343"/>
            <a:ext cx="1747436" cy="10026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2D41947-976B-4065-B381-71B14A1FD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074" y="3055256"/>
            <a:ext cx="1395185" cy="74022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41668E1-AE17-45C5-BF61-DAE64E126E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540" t="5004"/>
          <a:stretch/>
        </p:blipFill>
        <p:spPr>
          <a:xfrm>
            <a:off x="5521508" y="2888344"/>
            <a:ext cx="1309677" cy="85634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D71F77C-A77C-47BF-A23F-6F49C10FD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3004456"/>
            <a:ext cx="1060505" cy="791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3264798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Analysis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300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300163"/>
            <a:ext cx="49418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Sales Dashboard helps to analyze: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71500" y="1695450"/>
            <a:ext cx="50482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6275" y="17907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" y="1838325"/>
            <a:ext cx="2231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9650" y="1781175"/>
            <a:ext cx="25847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050" y="2219325"/>
            <a:ext cx="3260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performance over time.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81050" y="2484090"/>
            <a:ext cx="35983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and yearly sales trends.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781050" y="2748855"/>
            <a:ext cx="23790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Category-wise sales.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781050" y="3013621"/>
            <a:ext cx="15114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 status.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781050" y="3278386"/>
            <a:ext cx="19909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Cancelled orders.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81050" y="3543151"/>
            <a:ext cx="22890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order value.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781050" y="3807916"/>
            <a:ext cx="283344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Brand-wise performance.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5905500" y="1695450"/>
            <a:ext cx="2381250" cy="2524125"/>
          </a:xfrm>
          <a:prstGeom prst="roundRect">
            <a:avLst>
              <a:gd name="adj" fmla="val 4400"/>
            </a:avLst>
          </a:prstGeom>
          <a:solidFill>
            <a:srgbClr val="0D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6191250" y="2038350"/>
            <a:ext cx="7091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191250" y="2495550"/>
            <a:ext cx="16234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helps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191250" y="2800127"/>
            <a:ext cx="179311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191250" y="3104704"/>
            <a:ext cx="210055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 their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191250" y="3409280"/>
            <a:ext cx="195844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sales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191250" y="3713857"/>
            <a:ext cx="216004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C7788C-2C99-4665-BF7B-501DF38B00D2}"/>
              </a:ext>
            </a:extLst>
          </p:cNvPr>
          <p:cNvSpPr txBox="1"/>
          <p:nvPr/>
        </p:nvSpPr>
        <p:spPr>
          <a:xfrm>
            <a:off x="471714" y="416378"/>
            <a:ext cx="394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Sales </a:t>
            </a:r>
            <a:r>
              <a:rPr lang="en-US" sz="3600" b="1" dirty="0" err="1"/>
              <a:t>performence</a:t>
            </a:r>
            <a:endParaRPr lang="en-IN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7A89E6-1199-4F50-829D-E8A9CE11A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81" y="2011090"/>
            <a:ext cx="2800494" cy="1765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870BE3-71E5-4366-9458-C1EA44A3FFEE}"/>
              </a:ext>
            </a:extLst>
          </p:cNvPr>
          <p:cNvSpPr txBox="1"/>
          <p:nvPr/>
        </p:nvSpPr>
        <p:spPr>
          <a:xfrm flipH="1">
            <a:off x="880290" y="1531257"/>
            <a:ext cx="3626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are sales changing over time?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9632B-F4F9-4FD8-A225-1EC287E5D6D4}"/>
              </a:ext>
            </a:extLst>
          </p:cNvPr>
          <p:cNvSpPr txBox="1"/>
          <p:nvPr/>
        </p:nvSpPr>
        <p:spPr>
          <a:xfrm>
            <a:off x="4932682" y="1900589"/>
            <a:ext cx="32388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line chart shows the sales trend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It helps us identify whether sales are increasing, decreasing, or fluctuating during different periods.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81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00199-2D12-4C96-B27F-332CDC023475}"/>
              </a:ext>
            </a:extLst>
          </p:cNvPr>
          <p:cNvSpPr txBox="1"/>
          <p:nvPr/>
        </p:nvSpPr>
        <p:spPr>
          <a:xfrm>
            <a:off x="566057" y="855311"/>
            <a:ext cx="412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are yearly sales changing?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60A44-73F4-4783-B88D-3741AB72909A}"/>
              </a:ext>
            </a:extLst>
          </p:cNvPr>
          <p:cNvSpPr txBox="1"/>
          <p:nvPr/>
        </p:nvSpPr>
        <p:spPr>
          <a:xfrm>
            <a:off x="566057" y="425450"/>
            <a:ext cx="203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295107-0FBD-41C3-A28A-A206345A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28" y="1416000"/>
            <a:ext cx="2794144" cy="19177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CD76CB-8A47-48B2-AE50-AF8A686A0992}"/>
              </a:ext>
            </a:extLst>
          </p:cNvPr>
          <p:cNvSpPr txBox="1"/>
          <p:nvPr/>
        </p:nvSpPr>
        <p:spPr>
          <a:xfrm>
            <a:off x="4152900" y="1556087"/>
            <a:ext cx="3213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line chart shows yearly sales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By comparing each year, we can understand the overall growth or decline in sales and identify the years with higher or lower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601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7F941CF0-D1B7-4D06-AA52-A6EC176F1CD7}"/>
              </a:ext>
            </a:extLst>
          </p:cNvPr>
          <p:cNvSpPr/>
          <p:nvPr/>
        </p:nvSpPr>
        <p:spPr>
          <a:xfrm>
            <a:off x="0" y="-19685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FB3DD-9A77-49E1-A45C-2A1579700ACF}"/>
              </a:ext>
            </a:extLst>
          </p:cNvPr>
          <p:cNvSpPr txBox="1"/>
          <p:nvPr/>
        </p:nvSpPr>
        <p:spPr>
          <a:xfrm>
            <a:off x="342900" y="647700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Which category has the highest sales?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6E064-0F3A-4565-AC8D-B9870898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46" y="1339850"/>
            <a:ext cx="3079908" cy="1803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B2EC62-48E7-46EC-B346-45E4E6CB9F20}"/>
              </a:ext>
            </a:extLst>
          </p:cNvPr>
          <p:cNvSpPr txBox="1"/>
          <p:nvPr/>
        </p:nvSpPr>
        <p:spPr>
          <a:xfrm>
            <a:off x="4451350" y="1320800"/>
            <a:ext cx="3721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bar chart compares sales across different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category with the tallest bar represents the highest sales.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helps us identify which category contributes the most to overall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30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0B3E3E4F-FD9C-4D76-8008-6F81048EA8D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DF64F-0539-4C00-B02A-EC8583D6D1F8}"/>
              </a:ext>
            </a:extLst>
          </p:cNvPr>
          <p:cNvSpPr txBox="1"/>
          <p:nvPr/>
        </p:nvSpPr>
        <p:spPr>
          <a:xfrm>
            <a:off x="527050" y="387350"/>
            <a:ext cx="478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is the order status distribution?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04C0D-3177-479E-89BB-7F9F062C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06" y="1685879"/>
            <a:ext cx="2673487" cy="1771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8650B-69BD-4A14-8947-C8DBB9C5731D}"/>
              </a:ext>
            </a:extLst>
          </p:cNvPr>
          <p:cNvSpPr txBox="1"/>
          <p:nvPr/>
        </p:nvSpPr>
        <p:spPr>
          <a:xfrm>
            <a:off x="4292600" y="1144032"/>
            <a:ext cx="3352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donut chart shows the distribution of orders based on their status.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section represents a different order status, and the size of each section shows its contribution to the total number of orders.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helps us understand the overall order fulfillment and cancellation situation.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95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457678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Dashboard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447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252537"/>
            <a:ext cx="47285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product-level view of performance.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71500" y="1581150"/>
            <a:ext cx="47476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2013347"/>
            <a:ext cx="17139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Products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21717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E7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38375" y="2013347"/>
            <a:ext cx="16285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Sales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37719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38575" y="1900238"/>
            <a:ext cx="9686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3838575" y="2126456"/>
            <a:ext cx="10608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Quantity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53721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E7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38775" y="2014538"/>
            <a:ext cx="9751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Average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438775" y="2240756"/>
            <a:ext cx="15998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Price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6972300" y="1819275"/>
            <a:ext cx="14478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8975" y="1900238"/>
            <a:ext cx="11140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Returned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38975" y="2126456"/>
            <a:ext cx="8046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Orders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571500" y="2628900"/>
            <a:ext cx="8754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81350" y="2876550"/>
            <a:ext cx="2428875" cy="533400"/>
          </a:xfrm>
          <a:prstGeom prst="roundRect">
            <a:avLst>
              <a:gd name="adj" fmla="val 14286"/>
            </a:avLst>
          </a:prstGeom>
          <a:solidFill>
            <a:srgbClr val="E7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5" y="3701653"/>
            <a:ext cx="15382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3286125" y="3643313"/>
            <a:ext cx="20056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30" dirty="0"/>
          </a:p>
        </p:txBody>
      </p:sp>
      <p:sp>
        <p:nvSpPr>
          <p:cNvPr id="34" name="Text 32"/>
          <p:cNvSpPr/>
          <p:nvPr/>
        </p:nvSpPr>
        <p:spPr>
          <a:xfrm>
            <a:off x="3286125" y="3869531"/>
            <a:ext cx="10039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3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0B0FE03-FC41-4E4F-824A-F9C3F8313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5" y="2876550"/>
            <a:ext cx="1244664" cy="6572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B47CCA3-1C3C-4D66-83C5-E07CC50E7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793" y="2856310"/>
            <a:ext cx="1225613" cy="6397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60F04A3-1D22-49D8-B377-BFB08DA7F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368" y="2865834"/>
            <a:ext cx="1174810" cy="6572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74326D6-9932-432C-9C59-BA7322DFD3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5624" y="2802731"/>
            <a:ext cx="1168460" cy="70800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5DF9369-E578-4B04-BA42-79A6AFEE5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420" y="2802731"/>
            <a:ext cx="1168460" cy="652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3887309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Analysis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4638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300163"/>
            <a:ext cx="494117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 Dashboard helps identify: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71500" y="175260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6275" y="18478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" y="1895475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9650" y="1838325"/>
            <a:ext cx="15089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Top-selling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09650" y="2072953"/>
            <a:ext cx="13457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181350" y="175260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E7F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86125" y="18478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86125" y="1895475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9500" y="1838325"/>
            <a:ext cx="19025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 with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19500" y="2072953"/>
            <a:ext cx="24108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quantities.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791200" y="175260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5975" y="18478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95975" y="1895475"/>
            <a:ext cx="302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9350" y="1838325"/>
            <a:ext cx="21245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Top-performing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29350" y="2072953"/>
            <a:ext cx="10585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brands.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71500" y="287655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E7F1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275" y="29718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75" y="3019425"/>
            <a:ext cx="3080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9650" y="2962275"/>
            <a:ext cx="2317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Cities generating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09650" y="3196903"/>
            <a:ext cx="172598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sales.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3181350" y="287655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6125" y="29718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86125" y="3019425"/>
            <a:ext cx="3036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9500" y="2962275"/>
            <a:ext cx="13242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619500" y="3196903"/>
            <a:ext cx="12304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3619500" y="3431530"/>
            <a:ext cx="12991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methods.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5791200" y="2876550"/>
            <a:ext cx="2428875" cy="904875"/>
          </a:xfrm>
          <a:prstGeom prst="roundRect">
            <a:avLst>
              <a:gd name="adj" fmla="val 8421"/>
            </a:avLst>
          </a:prstGeom>
          <a:solidFill>
            <a:srgbClr val="E7F1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895975" y="29718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5895975" y="3019425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29350" y="2962275"/>
            <a:ext cx="22793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Returned orders.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571500" y="4086225"/>
            <a:ext cx="7800975" cy="400050"/>
          </a:xfrm>
          <a:prstGeom prst="roundRect">
            <a:avLst>
              <a:gd name="adj" fmla="val 19048"/>
            </a:avLst>
          </a:prstGeom>
          <a:solidFill>
            <a:srgbClr val="0D2340"/>
          </a:solidFill>
          <a:ln/>
        </p:spPr>
      </p:sp>
      <p:sp>
        <p:nvSpPr>
          <p:cNvPr id="40" name="Text 38"/>
          <p:cNvSpPr/>
          <p:nvPr/>
        </p:nvSpPr>
        <p:spPr>
          <a:xfrm>
            <a:off x="733425" y="4216003"/>
            <a:ext cx="860407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helps businesses understand product demand and performance.</a:t>
            </a:r>
            <a:endParaRPr lang="en-US" sz="1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A025B85A-E7BF-417A-8AD1-E48C113CE3A6}"/>
              </a:ext>
            </a:extLst>
          </p:cNvPr>
          <p:cNvSpPr/>
          <p:nvPr/>
        </p:nvSpPr>
        <p:spPr>
          <a:xfrm>
            <a:off x="-5080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FDE7-E403-49FA-90C1-0628A78C7962}"/>
              </a:ext>
            </a:extLst>
          </p:cNvPr>
          <p:cNvSpPr txBox="1"/>
          <p:nvPr/>
        </p:nvSpPr>
        <p:spPr>
          <a:xfrm>
            <a:off x="368300" y="304800"/>
            <a:ext cx="4883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Product performance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A4287-5D73-4CD5-8F6F-1E834576D462}"/>
              </a:ext>
            </a:extLst>
          </p:cNvPr>
          <p:cNvSpPr txBox="1"/>
          <p:nvPr/>
        </p:nvSpPr>
        <p:spPr>
          <a:xfrm>
            <a:off x="654050" y="990600"/>
            <a:ext cx="488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product generated the highest sales?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3B893-FEC6-41E6-8626-036F1DB01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63" y="1482155"/>
            <a:ext cx="2413124" cy="20765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1B711-0F76-4180-B2B0-5617FD042EBB}"/>
              </a:ext>
            </a:extLst>
          </p:cNvPr>
          <p:cNvSpPr txBox="1"/>
          <p:nvPr/>
        </p:nvSpPr>
        <p:spPr>
          <a:xfrm>
            <a:off x="5697162" y="3998847"/>
            <a:ext cx="931553" cy="1721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4758E7C-0B5B-435D-A04F-28147A77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1643271"/>
            <a:ext cx="41275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column chart compares the sales of different products.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product with the tallest column has generated the highest sales.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us identify the best-performing product based on sales.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364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6840B305-0942-426B-816C-4C2508B6B9B0}"/>
              </a:ext>
            </a:extLst>
          </p:cNvPr>
          <p:cNvSpPr/>
          <p:nvPr/>
        </p:nvSpPr>
        <p:spPr>
          <a:xfrm>
            <a:off x="0" y="-7257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288E1-1FDA-4B16-9318-643CC57D6819}"/>
              </a:ext>
            </a:extLst>
          </p:cNvPr>
          <p:cNvSpPr txBox="1"/>
          <p:nvPr/>
        </p:nvSpPr>
        <p:spPr>
          <a:xfrm>
            <a:off x="666750" y="565150"/>
            <a:ext cx="52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product sold the highest quantity?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38EA5-CC32-46EB-B567-8739DE4A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57" y="1349324"/>
            <a:ext cx="2635385" cy="1974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6CD043-2D9D-425C-B01B-FE61A766D67E}"/>
              </a:ext>
            </a:extLst>
          </p:cNvPr>
          <p:cNvSpPr txBox="1"/>
          <p:nvPr/>
        </p:nvSpPr>
        <p:spPr>
          <a:xfrm>
            <a:off x="4572000" y="1289050"/>
            <a:ext cx="34988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bar chart shows the quantity sold for different products.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product with the longest bar represents the highest quantity sold.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helps us identify which product has the highest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73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4389D-7F6D-44AB-892F-333EBD20409C}"/>
              </a:ext>
            </a:extLst>
          </p:cNvPr>
          <p:cNvSpPr txBox="1"/>
          <p:nvPr/>
        </p:nvSpPr>
        <p:spPr>
          <a:xfrm>
            <a:off x="723900" y="609600"/>
            <a:ext cx="422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Which city generates the highest sales?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2DC1E-02FF-4A9E-B776-03226F8B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76" y="1482688"/>
            <a:ext cx="2701974" cy="2232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294866-5E12-48DD-BF6F-9FB5B1871960}"/>
              </a:ext>
            </a:extLst>
          </p:cNvPr>
          <p:cNvSpPr txBox="1"/>
          <p:nvPr/>
        </p:nvSpPr>
        <p:spPr>
          <a:xfrm>
            <a:off x="4257724" y="1638300"/>
            <a:ext cx="3721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</a:t>
            </a:r>
            <a:r>
              <a:rPr lang="en-US" dirty="0" err="1"/>
              <a:t>treemap</a:t>
            </a:r>
            <a:r>
              <a:rPr lang="en-US" dirty="0"/>
              <a:t> shows sales by city. The largest rectangle represents the city with the highest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It helps us quickly compare the contribution of different cities to total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635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84DE8-85DF-4DB6-AB49-58107DA4CFBF}"/>
              </a:ext>
            </a:extLst>
          </p:cNvPr>
          <p:cNvSpPr txBox="1"/>
          <p:nvPr/>
        </p:nvSpPr>
        <p:spPr>
          <a:xfrm flipH="1">
            <a:off x="515619" y="787916"/>
            <a:ext cx="5142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brand generates the highest sales?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66D46-E47E-428E-BA13-9F166189F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52" y="1543006"/>
            <a:ext cx="2197148" cy="2012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94778-143B-468F-AEFC-C77CDC39277C}"/>
              </a:ext>
            </a:extLst>
          </p:cNvPr>
          <p:cNvSpPr txBox="1"/>
          <p:nvPr/>
        </p:nvSpPr>
        <p:spPr>
          <a:xfrm>
            <a:off x="3778250" y="1672340"/>
            <a:ext cx="3892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pie chart shows the sales contribution of different brands.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largest slice represents the brand with the highest sales.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helps us understand the sales share of each brand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799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EC40C-8121-4A92-885C-048F6392BEA8}"/>
              </a:ext>
            </a:extLst>
          </p:cNvPr>
          <p:cNvSpPr txBox="1"/>
          <p:nvPr/>
        </p:nvSpPr>
        <p:spPr>
          <a:xfrm>
            <a:off x="431800" y="742950"/>
            <a:ext cx="566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Which payment method is used most frequently?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846FD-40C2-4B76-B4D8-18823B18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16" y="1539830"/>
            <a:ext cx="2292468" cy="1746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D35FB3-9304-4804-A21F-1927B98A00E1}"/>
              </a:ext>
            </a:extLst>
          </p:cNvPr>
          <p:cNvSpPr txBox="1"/>
          <p:nvPr/>
        </p:nvSpPr>
        <p:spPr>
          <a:xfrm>
            <a:off x="3721100" y="1638300"/>
            <a:ext cx="33909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donut chart shows the frequency of different payment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largest section represents the payment method used most frequently.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us understand customer payment preferences.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87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2767466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KPI Analysis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122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3620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57225" y="14954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1487091"/>
            <a:ext cx="2607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90600" y="1425922"/>
            <a:ext cx="339326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Sales – Measures overall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990600" y="1643063"/>
            <a:ext cx="2245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generated.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71500" y="199072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E7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225" y="2124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15" name="Text 13"/>
          <p:cNvSpPr/>
          <p:nvPr/>
        </p:nvSpPr>
        <p:spPr>
          <a:xfrm>
            <a:off x="657225" y="2115741"/>
            <a:ext cx="28999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990600" y="2054572"/>
            <a:ext cx="409384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Orders – Measures the number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90600" y="2271713"/>
            <a:ext cx="112997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orders.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71500" y="26193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225" y="27527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20" name="Text 18"/>
          <p:cNvSpPr/>
          <p:nvPr/>
        </p:nvSpPr>
        <p:spPr>
          <a:xfrm>
            <a:off x="657225" y="2744391"/>
            <a:ext cx="28738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90600" y="2683222"/>
            <a:ext cx="41733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Quantity – Measures total units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990600" y="2900363"/>
            <a:ext cx="5994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sold.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571500" y="324802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E7F1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57225" y="3381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25" name="Text 23"/>
          <p:cNvSpPr/>
          <p:nvPr/>
        </p:nvSpPr>
        <p:spPr>
          <a:xfrm>
            <a:off x="657225" y="3373041"/>
            <a:ext cx="29241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990600" y="3311872"/>
            <a:ext cx="363859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Order Value – Measures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990600" y="3529013"/>
            <a:ext cx="272470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value per order.</a:t>
            </a:r>
            <a:endParaRPr lang="en-US" sz="1430" dirty="0"/>
          </a:p>
        </p:txBody>
      </p:sp>
      <p:sp>
        <p:nvSpPr>
          <p:cNvPr id="28" name="Shape 26"/>
          <p:cNvSpPr/>
          <p:nvPr/>
        </p:nvSpPr>
        <p:spPr>
          <a:xfrm>
            <a:off x="571500" y="38766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57225" y="40100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30" name="Text 28"/>
          <p:cNvSpPr/>
          <p:nvPr/>
        </p:nvSpPr>
        <p:spPr>
          <a:xfrm>
            <a:off x="657225" y="4001691"/>
            <a:ext cx="28825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90600" y="3940522"/>
            <a:ext cx="407875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Cancelled Orders – Tracks cancelled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990600" y="4157663"/>
            <a:ext cx="8524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orders.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4572000" y="13620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E7F1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57725" y="14954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35" name="Text 33"/>
          <p:cNvSpPr/>
          <p:nvPr/>
        </p:nvSpPr>
        <p:spPr>
          <a:xfrm>
            <a:off x="4657725" y="1487091"/>
            <a:ext cx="2948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4991100" y="1425922"/>
            <a:ext cx="34435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Products – Measures the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4991100" y="1643063"/>
            <a:ext cx="234259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number of products.</a:t>
            </a:r>
            <a:endParaRPr lang="en-US" sz="1430" dirty="0"/>
          </a:p>
        </p:txBody>
      </p:sp>
      <p:sp>
        <p:nvSpPr>
          <p:cNvPr id="38" name="Shape 36"/>
          <p:cNvSpPr/>
          <p:nvPr/>
        </p:nvSpPr>
        <p:spPr>
          <a:xfrm>
            <a:off x="4572000" y="199072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657725" y="2124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40" name="Text 38"/>
          <p:cNvSpPr/>
          <p:nvPr/>
        </p:nvSpPr>
        <p:spPr>
          <a:xfrm>
            <a:off x="4657725" y="2115741"/>
            <a:ext cx="27848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4991100" y="2054572"/>
            <a:ext cx="388092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Sales – Measures product</a:t>
            </a:r>
            <a:endParaRPr lang="en-US" sz="1430" dirty="0"/>
          </a:p>
        </p:txBody>
      </p:sp>
      <p:sp>
        <p:nvSpPr>
          <p:cNvPr id="42" name="Text 40"/>
          <p:cNvSpPr/>
          <p:nvPr/>
        </p:nvSpPr>
        <p:spPr>
          <a:xfrm>
            <a:off x="4991100" y="2271713"/>
            <a:ext cx="7133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sales.</a:t>
            </a:r>
            <a:endParaRPr lang="en-US" sz="1430" dirty="0"/>
          </a:p>
        </p:txBody>
      </p:sp>
      <p:sp>
        <p:nvSpPr>
          <p:cNvPr id="43" name="Shape 41"/>
          <p:cNvSpPr/>
          <p:nvPr/>
        </p:nvSpPr>
        <p:spPr>
          <a:xfrm>
            <a:off x="4572000" y="26193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E7F1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657725" y="27527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45" name="Text 43"/>
          <p:cNvSpPr/>
          <p:nvPr/>
        </p:nvSpPr>
        <p:spPr>
          <a:xfrm>
            <a:off x="4657725" y="2744391"/>
            <a:ext cx="2931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4991100" y="2683222"/>
            <a:ext cx="393209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Quantity – Measures units</a:t>
            </a:r>
            <a:endParaRPr lang="en-US" sz="1430" dirty="0"/>
          </a:p>
        </p:txBody>
      </p:sp>
      <p:sp>
        <p:nvSpPr>
          <p:cNvPr id="47" name="Text 45"/>
          <p:cNvSpPr/>
          <p:nvPr/>
        </p:nvSpPr>
        <p:spPr>
          <a:xfrm>
            <a:off x="4991100" y="2900363"/>
            <a:ext cx="5994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sold.</a:t>
            </a:r>
            <a:endParaRPr lang="en-US" sz="1430" dirty="0"/>
          </a:p>
        </p:txBody>
      </p:sp>
      <p:sp>
        <p:nvSpPr>
          <p:cNvPr id="48" name="Shape 46"/>
          <p:cNvSpPr/>
          <p:nvPr/>
        </p:nvSpPr>
        <p:spPr>
          <a:xfrm>
            <a:off x="4572000" y="324802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657725" y="3381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50" name="Text 48"/>
          <p:cNvSpPr/>
          <p:nvPr/>
        </p:nvSpPr>
        <p:spPr>
          <a:xfrm>
            <a:off x="4657725" y="3373041"/>
            <a:ext cx="2948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130" dirty="0"/>
          </a:p>
        </p:txBody>
      </p:sp>
      <p:sp>
        <p:nvSpPr>
          <p:cNvPr id="51" name="Text 49"/>
          <p:cNvSpPr/>
          <p:nvPr/>
        </p:nvSpPr>
        <p:spPr>
          <a:xfrm>
            <a:off x="4991100" y="3311872"/>
            <a:ext cx="385451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Product Price – Measures</a:t>
            </a:r>
            <a:endParaRPr lang="en-US" sz="1430" dirty="0"/>
          </a:p>
        </p:txBody>
      </p:sp>
      <p:sp>
        <p:nvSpPr>
          <p:cNvPr id="52" name="Text 50"/>
          <p:cNvSpPr/>
          <p:nvPr/>
        </p:nvSpPr>
        <p:spPr>
          <a:xfrm>
            <a:off x="4991100" y="3529013"/>
            <a:ext cx="25730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product price.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4572000" y="3876675"/>
            <a:ext cx="3762375" cy="514350"/>
          </a:xfrm>
          <a:prstGeom prst="roundRect">
            <a:avLst>
              <a:gd name="adj" fmla="val 12963"/>
            </a:avLst>
          </a:prstGeom>
          <a:solidFill>
            <a:srgbClr val="E7F1FF"/>
          </a:solidFill>
          <a:ln/>
        </p:spPr>
      </p:sp>
      <p:sp>
        <p:nvSpPr>
          <p:cNvPr id="54" name="Shape 52"/>
          <p:cNvSpPr/>
          <p:nvPr/>
        </p:nvSpPr>
        <p:spPr>
          <a:xfrm>
            <a:off x="4657725" y="40100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677E8"/>
          </a:solidFill>
          <a:ln/>
        </p:spPr>
      </p:sp>
      <p:sp>
        <p:nvSpPr>
          <p:cNvPr id="55" name="Text 53"/>
          <p:cNvSpPr/>
          <p:nvPr/>
        </p:nvSpPr>
        <p:spPr>
          <a:xfrm>
            <a:off x="4657725" y="4001691"/>
            <a:ext cx="2607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130" dirty="0"/>
          </a:p>
        </p:txBody>
      </p:sp>
      <p:sp>
        <p:nvSpPr>
          <p:cNvPr id="56" name="Text 54"/>
          <p:cNvSpPr/>
          <p:nvPr/>
        </p:nvSpPr>
        <p:spPr>
          <a:xfrm>
            <a:off x="4991100" y="3940522"/>
            <a:ext cx="39090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Returned Orders – Tracks returned</a:t>
            </a:r>
            <a:endParaRPr lang="en-US" sz="1430" dirty="0"/>
          </a:p>
        </p:txBody>
      </p:sp>
      <p:sp>
        <p:nvSpPr>
          <p:cNvPr id="57" name="Text 55"/>
          <p:cNvSpPr/>
          <p:nvPr/>
        </p:nvSpPr>
        <p:spPr>
          <a:xfrm>
            <a:off x="4991100" y="4157663"/>
            <a:ext cx="8524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orders.</a:t>
            </a:r>
            <a:endParaRPr lang="en-US" sz="14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616715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Features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57141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16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71500" y="1300163"/>
            <a:ext cx="55366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dashboard contains interactive slicers.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71500" y="1695450"/>
            <a:ext cx="36671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6275" y="17907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" y="1838325"/>
            <a:ext cx="1874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9650" y="1781175"/>
            <a:ext cx="234384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Dashboard</a:t>
            </a:r>
            <a:endParaRPr lang="en-US" sz="1730" dirty="0"/>
          </a:p>
        </p:txBody>
      </p:sp>
      <p:sp>
        <p:nvSpPr>
          <p:cNvPr id="13" name="Shape 11"/>
          <p:cNvSpPr/>
          <p:nvPr/>
        </p:nvSpPr>
        <p:spPr>
          <a:xfrm>
            <a:off x="4524375" y="1695450"/>
            <a:ext cx="3762375" cy="1428750"/>
          </a:xfrm>
          <a:prstGeom prst="roundRect">
            <a:avLst>
              <a:gd name="adj" fmla="val 5333"/>
            </a:avLst>
          </a:prstGeom>
          <a:solidFill>
            <a:srgbClr val="E7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29150" y="17907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29150" y="1838325"/>
            <a:ext cx="18368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2525" y="1781175"/>
            <a:ext cx="272064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Dashboard</a:t>
            </a:r>
            <a:endParaRPr lang="en-US" sz="1730" dirty="0"/>
          </a:p>
        </p:txBody>
      </p:sp>
      <p:sp>
        <p:nvSpPr>
          <p:cNvPr id="17" name="Shape 15"/>
          <p:cNvSpPr/>
          <p:nvPr/>
        </p:nvSpPr>
        <p:spPr>
          <a:xfrm>
            <a:off x="781050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E7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7725" y="2452688"/>
            <a:ext cx="56628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33925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452688"/>
            <a:ext cx="56628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85950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E7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1952625" y="2452688"/>
            <a:ext cx="82796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838825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05500" y="2452688"/>
            <a:ext cx="54035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90850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E7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3057525" y="2452688"/>
            <a:ext cx="74641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3725" y="2352675"/>
            <a:ext cx="962025" cy="371475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10400" y="2452688"/>
            <a:ext cx="82796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71500" y="3343275"/>
            <a:ext cx="9660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1500" y="3609975"/>
            <a:ext cx="2428875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5" y="3739753"/>
            <a:ext cx="253374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Easy data exploration.</a:t>
            </a:r>
            <a:endParaRPr lang="en-US" sz="1430" dirty="0"/>
          </a:p>
        </p:txBody>
      </p:sp>
      <p:sp>
        <p:nvSpPr>
          <p:cNvPr id="32" name="Shape 30"/>
          <p:cNvSpPr/>
          <p:nvPr/>
        </p:nvSpPr>
        <p:spPr>
          <a:xfrm>
            <a:off x="3181350" y="3609975"/>
            <a:ext cx="2428875" cy="504825"/>
          </a:xfrm>
          <a:prstGeom prst="roundRect">
            <a:avLst>
              <a:gd name="adj" fmla="val 15094"/>
            </a:avLst>
          </a:prstGeom>
          <a:solidFill>
            <a:srgbClr val="E7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86125" y="3739753"/>
            <a:ext cx="21352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comparison.</a:t>
            </a:r>
            <a:endParaRPr lang="en-US" sz="1430" dirty="0"/>
          </a:p>
        </p:txBody>
      </p:sp>
      <p:sp>
        <p:nvSpPr>
          <p:cNvPr id="34" name="Shape 32"/>
          <p:cNvSpPr/>
          <p:nvPr/>
        </p:nvSpPr>
        <p:spPr>
          <a:xfrm>
            <a:off x="5791200" y="3609975"/>
            <a:ext cx="2428875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95975" y="3739753"/>
            <a:ext cx="206369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Dynamic analysis.</a:t>
            </a:r>
            <a:endParaRPr lang="en-US" sz="1430" dirty="0"/>
          </a:p>
        </p:txBody>
      </p:sp>
      <p:sp>
        <p:nvSpPr>
          <p:cNvPr id="36" name="Shape 34"/>
          <p:cNvSpPr/>
          <p:nvPr/>
        </p:nvSpPr>
        <p:spPr>
          <a:xfrm>
            <a:off x="1876425" y="4171950"/>
            <a:ext cx="2428875" cy="504825"/>
          </a:xfrm>
          <a:prstGeom prst="roundRect">
            <a:avLst>
              <a:gd name="adj" fmla="val 15094"/>
            </a:avLst>
          </a:prstGeom>
          <a:solidFill>
            <a:srgbClr val="E7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1981200" y="4356497"/>
            <a:ext cx="28506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User-friendly dashboard.</a:t>
            </a:r>
            <a:endParaRPr lang="en-US" sz="1430" dirty="0"/>
          </a:p>
        </p:txBody>
      </p:sp>
      <p:sp>
        <p:nvSpPr>
          <p:cNvPr id="38" name="Shape 36"/>
          <p:cNvSpPr/>
          <p:nvPr/>
        </p:nvSpPr>
        <p:spPr>
          <a:xfrm>
            <a:off x="4486275" y="4171950"/>
            <a:ext cx="2428875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91050" y="4356497"/>
            <a:ext cx="27392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 decision-making.</a:t>
            </a:r>
            <a:endParaRPr lang="en-US" sz="14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2856369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0062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7627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1533525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1476375"/>
            <a:ext cx="18536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Analyze overall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9650" y="1689720"/>
            <a:ext cx="235071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performance.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8135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8612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86125" y="1533525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9500" y="1476375"/>
            <a:ext cx="20708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Identify monthly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9500" y="1689720"/>
            <a:ext cx="20022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yearly sales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9500" y="1903065"/>
            <a:ext cx="9207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9120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597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95975" y="1533525"/>
            <a:ext cx="302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9350" y="1476375"/>
            <a:ext cx="223027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different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29350" y="1689720"/>
            <a:ext cx="140790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categories.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150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27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75" y="2486025"/>
            <a:ext cx="3080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9650" y="2428875"/>
            <a:ext cx="17046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Analyze order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9650" y="2642220"/>
            <a:ext cx="90070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18135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612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86125" y="2486025"/>
            <a:ext cx="3036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9500" y="2428875"/>
            <a:ext cx="238061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Identify top-selling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19500" y="2642220"/>
            <a:ext cx="12285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79120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89597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6" name="Text 34"/>
          <p:cNvSpPr/>
          <p:nvPr/>
        </p:nvSpPr>
        <p:spPr>
          <a:xfrm>
            <a:off x="5895975" y="2486025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29350" y="2428875"/>
            <a:ext cx="188705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brand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29350" y="2642220"/>
            <a:ext cx="16773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7150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27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6275" y="3438525"/>
            <a:ext cx="293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9650" y="3381375"/>
            <a:ext cx="21751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Analyze city-wise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9650" y="3594720"/>
            <a:ext cx="7414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18135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28612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46" name="Text 44"/>
          <p:cNvSpPr/>
          <p:nvPr/>
        </p:nvSpPr>
        <p:spPr>
          <a:xfrm>
            <a:off x="3286125" y="3438525"/>
            <a:ext cx="308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19500" y="3381375"/>
            <a:ext cx="146604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3619500" y="3594720"/>
            <a:ext cx="23157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 methods.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79120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89597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95975" y="3438525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29350" y="3381375"/>
            <a:ext cx="22280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 cancelled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229350" y="3594720"/>
            <a:ext cx="16233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returned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229350" y="3808065"/>
            <a:ext cx="90196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4121222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Benefits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5981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371600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66750" y="1519238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1444228"/>
            <a:ext cx="2607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38225" y="1514475"/>
            <a:ext cx="328888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 sales performance.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1500" y="2066925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E7F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750" y="2214563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2139553"/>
            <a:ext cx="28999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1038225" y="2209800"/>
            <a:ext cx="276659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product demand.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" y="2762250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750" y="2909888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18" name="Text 16"/>
          <p:cNvSpPr/>
          <p:nvPr/>
        </p:nvSpPr>
        <p:spPr>
          <a:xfrm>
            <a:off x="666750" y="2834878"/>
            <a:ext cx="28738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1038225" y="2838450"/>
            <a:ext cx="295591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high-performing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" y="3457575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E7F1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6750" y="3605212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" y="3530203"/>
            <a:ext cx="29241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1038225" y="3600450"/>
            <a:ext cx="388924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brands and categories.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1371600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E7F1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7250" y="1519238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26" name="Text 24"/>
          <p:cNvSpPr/>
          <p:nvPr/>
        </p:nvSpPr>
        <p:spPr>
          <a:xfrm>
            <a:off x="4667250" y="1444228"/>
            <a:ext cx="28825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5038725" y="1514475"/>
            <a:ext cx="332129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geographical sales.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2066925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7250" y="2214563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7250" y="2139553"/>
            <a:ext cx="2948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5038725" y="2257425"/>
            <a:ext cx="411609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 cancellations and returns.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0" y="2762250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E7F1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667250" y="2909888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34" name="Text 32"/>
          <p:cNvSpPr/>
          <p:nvPr/>
        </p:nvSpPr>
        <p:spPr>
          <a:xfrm>
            <a:off x="4667250" y="2834878"/>
            <a:ext cx="27848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5038725" y="2838450"/>
            <a:ext cx="372585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customer payment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preferences.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0" y="3457575"/>
            <a:ext cx="37623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7250" y="3605212"/>
            <a:ext cx="257175" cy="257175"/>
          </a:xfrm>
          <a:prstGeom prst="roundRect">
            <a:avLst>
              <a:gd name="adj" fmla="val 25926"/>
            </a:avLst>
          </a:prstGeom>
          <a:solidFill>
            <a:srgbClr val="1677E8"/>
          </a:solidFill>
          <a:ln/>
        </p:spPr>
      </p:sp>
      <p:sp>
        <p:nvSpPr>
          <p:cNvPr id="38" name="Text 36"/>
          <p:cNvSpPr/>
          <p:nvPr/>
        </p:nvSpPr>
        <p:spPr>
          <a:xfrm>
            <a:off x="4667250" y="3530203"/>
            <a:ext cx="2931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5038725" y="3529013"/>
            <a:ext cx="360473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 data-driven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257834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60304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362075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76275" y="1457325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1504950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1447800"/>
            <a:ext cx="38068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dashboard provides a clear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9650" y="1661145"/>
            <a:ext cx="413650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view of Amazon sales and product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9650" y="1874490"/>
            <a:ext cx="16773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1362075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E7F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6775" y="1457325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76775" y="1504950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150" y="1447800"/>
            <a:ext cx="34103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BI was used to create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10150" y="1661145"/>
            <a:ext cx="313371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visual reports.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1500" y="2324100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E7F1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275" y="24193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275" y="2466975"/>
            <a:ext cx="302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9650" y="2409825"/>
            <a:ext cx="32219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KPIs and charts make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9650" y="2623170"/>
            <a:ext cx="18784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 easier.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2324100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6775" y="241935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76775" y="2466975"/>
            <a:ext cx="3080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150" y="2409825"/>
            <a:ext cx="409713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Sales page focuses on overall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10150" y="2623170"/>
            <a:ext cx="209184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and orders.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1500" y="3286125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275" y="3381375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5" y="3429000"/>
            <a:ext cx="3036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9650" y="3371850"/>
            <a:ext cx="356865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Product page focuses 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9650" y="3585195"/>
            <a:ext cx="349232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products, brands, cities, and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9650" y="3798540"/>
            <a:ext cx="132742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0" y="3286125"/>
            <a:ext cx="3762375" cy="809625"/>
          </a:xfrm>
          <a:prstGeom prst="roundRect">
            <a:avLst>
              <a:gd name="adj" fmla="val 9412"/>
            </a:avLst>
          </a:prstGeom>
          <a:solidFill>
            <a:srgbClr val="E7F1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76775" y="3381375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4676775" y="3429000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150" y="3371850"/>
            <a:ext cx="40195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project improved my skills 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10150" y="3585195"/>
            <a:ext cx="382423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BI, data visualization, KPI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10150" y="3798540"/>
            <a:ext cx="29715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analysis, and dashboard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10150" y="4011885"/>
            <a:ext cx="16954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development.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47675"/>
            <a:ext cx="266700" cy="38100"/>
          </a:xfrm>
          <a:prstGeom prst="rect">
            <a:avLst/>
          </a:prstGeom>
          <a:solidFill>
            <a:srgbClr val="1677E8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23875"/>
            <a:ext cx="22883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PRESENTATION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71500" y="704850"/>
            <a:ext cx="3092120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0" y="4752975"/>
            <a:ext cx="5988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5C6F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7150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7627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" y="1533525"/>
            <a:ext cx="2743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1476375"/>
            <a:ext cx="18593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Customer-level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9650" y="1689720"/>
            <a:ext cx="111362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8135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8612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86125" y="1533525"/>
            <a:ext cx="3055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9500" y="1476375"/>
            <a:ext cx="198640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and profit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9500" y="1689720"/>
            <a:ext cx="20012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margin analysis.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91200" y="1390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895975" y="1485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95975" y="1533525"/>
            <a:ext cx="302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9350" y="1476375"/>
            <a:ext cx="12090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29350" y="1689720"/>
            <a:ext cx="17952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segmentation.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150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27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275" y="2486025"/>
            <a:ext cx="3080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9650" y="2428875"/>
            <a:ext cx="109360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9650" y="2642220"/>
            <a:ext cx="16049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9650" y="2855565"/>
            <a:ext cx="153811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18135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612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86125" y="2486025"/>
            <a:ext cx="3036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9500" y="2428875"/>
            <a:ext cx="22216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forecasting.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791200" y="23431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895975" y="24384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95975" y="2486025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29350" y="2428875"/>
            <a:ext cx="17895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DAX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229350" y="2642220"/>
            <a:ext cx="127614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7150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7627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40" name="Text 38"/>
          <p:cNvSpPr/>
          <p:nvPr/>
        </p:nvSpPr>
        <p:spPr>
          <a:xfrm>
            <a:off x="676275" y="3438525"/>
            <a:ext cx="293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9650" y="3381375"/>
            <a:ext cx="199307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data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09650" y="3594720"/>
            <a:ext cx="9903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18135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E7F1FF"/>
          </a:solidFill>
          <a:ln/>
        </p:spPr>
      </p:sp>
      <p:sp>
        <p:nvSpPr>
          <p:cNvPr id="44" name="Shape 42"/>
          <p:cNvSpPr/>
          <p:nvPr/>
        </p:nvSpPr>
        <p:spPr>
          <a:xfrm>
            <a:off x="328612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45" name="Text 43"/>
          <p:cNvSpPr/>
          <p:nvPr/>
        </p:nvSpPr>
        <p:spPr>
          <a:xfrm>
            <a:off x="3286125" y="3438525"/>
            <a:ext cx="308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19500" y="3381375"/>
            <a:ext cx="159316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Drill-through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619500" y="3594720"/>
            <a:ext cx="101785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reports.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791200" y="32956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5895975" y="3390900"/>
            <a:ext cx="238125" cy="219075"/>
          </a:xfrm>
          <a:prstGeom prst="roundRect">
            <a:avLst>
              <a:gd name="adj" fmla="val 21739"/>
            </a:avLst>
          </a:prstGeom>
          <a:solidFill>
            <a:srgbClr val="E7F1FF"/>
          </a:solidFill>
          <a:ln/>
        </p:spPr>
      </p:sp>
      <p:sp>
        <p:nvSpPr>
          <p:cNvPr id="50" name="Text 48"/>
          <p:cNvSpPr/>
          <p:nvPr/>
        </p:nvSpPr>
        <p:spPr>
          <a:xfrm>
            <a:off x="5895975" y="3438525"/>
            <a:ext cx="3107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77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29350" y="3381375"/>
            <a:ext cx="19051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Mobile-friendly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229350" y="3594720"/>
            <a:ext cx="141777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25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71500" y="857250"/>
            <a:ext cx="438150" cy="381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128713"/>
            <a:ext cx="4306476" cy="776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71500" y="1995487"/>
            <a:ext cx="617778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80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giving me the opportunity to</a:t>
            </a:r>
            <a:endParaRPr lang="en-US" sz="1880" dirty="0"/>
          </a:p>
        </p:txBody>
      </p:sp>
      <p:sp>
        <p:nvSpPr>
          <p:cNvPr id="7" name="Text 5"/>
          <p:cNvSpPr/>
          <p:nvPr/>
        </p:nvSpPr>
        <p:spPr>
          <a:xfrm>
            <a:off x="571500" y="2293144"/>
            <a:ext cx="28800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80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my project.</a:t>
            </a:r>
            <a:endParaRPr lang="en-US" sz="1880" dirty="0"/>
          </a:p>
        </p:txBody>
      </p:sp>
      <p:sp>
        <p:nvSpPr>
          <p:cNvPr id="8" name="Text 6"/>
          <p:cNvSpPr/>
          <p:nvPr/>
        </p:nvSpPr>
        <p:spPr>
          <a:xfrm>
            <a:off x="571500" y="2995613"/>
            <a:ext cx="372711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571500" y="3800475"/>
            <a:ext cx="1443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71500" y="4024312"/>
            <a:ext cx="2676049" cy="366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Divyabharathi.E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905625" y="2095500"/>
            <a:ext cx="342900" cy="1285875"/>
          </a:xfrm>
          <a:prstGeom prst="roundRect">
            <a:avLst>
              <a:gd name="adj" fmla="val 25000"/>
            </a:avLst>
          </a:prstGeom>
          <a:solidFill>
            <a:srgbClr val="1677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72350" y="1657350"/>
            <a:ext cx="342900" cy="1724025"/>
          </a:xfrm>
          <a:prstGeom prst="roundRect">
            <a:avLst>
              <a:gd name="adj" fmla="val 25000"/>
            </a:avLst>
          </a:prstGeom>
          <a:solidFill>
            <a:srgbClr val="F4C54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39075" y="1209675"/>
            <a:ext cx="342900" cy="2171700"/>
          </a:xfrm>
          <a:prstGeom prst="roundRect">
            <a:avLst>
              <a:gd name="adj" fmla="val 25000"/>
            </a:avLst>
          </a:prstGeom>
          <a:solidFill>
            <a:srgbClr val="1677E8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0" y="4752975"/>
            <a:ext cx="60546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E7F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16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1195</Words>
  <Application>Microsoft Office PowerPoint</Application>
  <PresentationFormat>On-screen Show (16:9)</PresentationFormat>
  <Paragraphs>379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Manrope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Gokilavani . M</cp:lastModifiedBy>
  <cp:revision>11</cp:revision>
  <dcterms:created xsi:type="dcterms:W3CDTF">2026-09-30T09:43:34Z</dcterms:created>
  <dcterms:modified xsi:type="dcterms:W3CDTF">2026-10-01T06:56:52Z</dcterms:modified>
</cp:coreProperties>
</file>
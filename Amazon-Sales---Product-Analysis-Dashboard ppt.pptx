
<file path=[Content_Types].xml><?xml version="1.0" encoding="utf-8"?>
<Types xmlns="http://schemas.openxmlformats.org/package/2006/content-types">
  <Default Extension="tmp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81" r:id="rId6"/>
    <p:sldId id="260" r:id="rId7"/>
    <p:sldId id="261" r:id="rId8"/>
    <p:sldId id="262" r:id="rId9"/>
    <p:sldId id="272" r:id="rId10"/>
    <p:sldId id="273" r:id="rId11"/>
    <p:sldId id="274" r:id="rId12"/>
    <p:sldId id="275" r:id="rId13"/>
    <p:sldId id="263" r:id="rId14"/>
    <p:sldId id="264" r:id="rId15"/>
    <p:sldId id="276" r:id="rId16"/>
    <p:sldId id="277" r:id="rId17"/>
    <p:sldId id="278" r:id="rId18"/>
    <p:sldId id="279" r:id="rId19"/>
    <p:sldId id="280" r:id="rId20"/>
    <p:sldId id="265" r:id="rId21"/>
    <p:sldId id="266" r:id="rId22"/>
    <p:sldId id="267" r:id="rId23"/>
    <p:sldId id="268" r:id="rId24"/>
    <p:sldId id="269" r:id="rId25"/>
    <p:sldId id="270" r:id="rId26"/>
    <p:sldId id="271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66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8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mp"/><Relationship Id="rId7" Type="http://schemas.openxmlformats.org/officeDocument/2006/relationships/image" Target="../media/image6.tmp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mp"/><Relationship Id="rId5" Type="http://schemas.openxmlformats.org/officeDocument/2006/relationships/image" Target="../media/image4.tmp"/><Relationship Id="rId4" Type="http://schemas.openxmlformats.org/officeDocument/2006/relationships/image" Target="../media/image3.tm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mp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mp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mp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mp"/><Relationship Id="rId7" Type="http://schemas.openxmlformats.org/officeDocument/2006/relationships/image" Target="../media/image15.tm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tmp"/><Relationship Id="rId5" Type="http://schemas.openxmlformats.org/officeDocument/2006/relationships/image" Target="../media/image13.tmp"/><Relationship Id="rId4" Type="http://schemas.openxmlformats.org/officeDocument/2006/relationships/image" Target="../media/image12.tm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tmp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tmp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tmp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tmp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tmp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334000" y="714375"/>
            <a:ext cx="3000375" cy="3476625"/>
          </a:xfrm>
          <a:prstGeom prst="roundRect">
            <a:avLst>
              <a:gd name="adj" fmla="val 4444"/>
            </a:avLst>
          </a:prstGeom>
          <a:solidFill>
            <a:srgbClr val="0D234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Text 2"/>
          <p:cNvSpPr/>
          <p:nvPr/>
        </p:nvSpPr>
        <p:spPr>
          <a:xfrm>
            <a:off x="571500" y="838200"/>
            <a:ext cx="3350508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80" b="1" dirty="0">
                <a:solidFill>
                  <a:srgbClr val="F4C54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POWER BI DASHBOARD PROJECT</a:t>
            </a:r>
            <a:endParaRPr lang="en-US" sz="1280" dirty="0"/>
          </a:p>
        </p:txBody>
      </p:sp>
      <p:sp>
        <p:nvSpPr>
          <p:cNvPr id="7" name="Text 3"/>
          <p:cNvSpPr/>
          <p:nvPr/>
        </p:nvSpPr>
        <p:spPr>
          <a:xfrm>
            <a:off x="571500" y="1181100"/>
            <a:ext cx="4370516" cy="523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3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AMAZON SALES &amp;</a:t>
            </a:r>
            <a:endParaRPr lang="en-US" sz="3230" dirty="0"/>
          </a:p>
        </p:txBody>
      </p:sp>
      <p:sp>
        <p:nvSpPr>
          <p:cNvPr id="8" name="Text 4"/>
          <p:cNvSpPr/>
          <p:nvPr/>
        </p:nvSpPr>
        <p:spPr>
          <a:xfrm>
            <a:off x="571500" y="1669703"/>
            <a:ext cx="4904609" cy="523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3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 ANALYSIS</a:t>
            </a:r>
            <a:endParaRPr lang="en-US" sz="3230" dirty="0"/>
          </a:p>
        </p:txBody>
      </p:sp>
      <p:sp>
        <p:nvSpPr>
          <p:cNvPr id="9" name="Text 5"/>
          <p:cNvSpPr/>
          <p:nvPr/>
        </p:nvSpPr>
        <p:spPr>
          <a:xfrm>
            <a:off x="571500" y="2158305"/>
            <a:ext cx="3157128" cy="523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3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DASHBOARD</a:t>
            </a:r>
            <a:endParaRPr lang="en-US" sz="3230" dirty="0"/>
          </a:p>
        </p:txBody>
      </p:sp>
      <p:sp>
        <p:nvSpPr>
          <p:cNvPr id="10" name="Shape 6"/>
          <p:cNvSpPr/>
          <p:nvPr/>
        </p:nvSpPr>
        <p:spPr>
          <a:xfrm>
            <a:off x="571500" y="2914650"/>
            <a:ext cx="457200" cy="38100"/>
          </a:xfrm>
          <a:prstGeom prst="rect">
            <a:avLst/>
          </a:prstGeom>
          <a:solidFill>
            <a:srgbClr val="F4C542"/>
          </a:solidFill>
          <a:ln/>
        </p:spPr>
      </p:sp>
      <p:sp>
        <p:nvSpPr>
          <p:cNvPr id="11" name="Text 7"/>
          <p:cNvSpPr/>
          <p:nvPr/>
        </p:nvSpPr>
        <p:spPr>
          <a:xfrm>
            <a:off x="571500" y="3043238"/>
            <a:ext cx="356942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E7F1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Power BI Dashboard Project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571500" y="3381375"/>
            <a:ext cx="376880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Presented by:  </a:t>
            </a:r>
            <a:r>
              <a:rPr lang="en-US" sz="1650" b="1" dirty="0" err="1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Divyabharathi</a:t>
            </a:r>
            <a:r>
              <a:rPr lang="en-US" sz="16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.E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571500" y="3719512"/>
            <a:ext cx="3172606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7F1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Tools Used: Power BI, Excel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734050" y="1057275"/>
            <a:ext cx="2595369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DASHBOARD OVERVIEW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734050" y="1400175"/>
            <a:ext cx="619125" cy="552450"/>
          </a:xfrm>
          <a:prstGeom prst="roundRect">
            <a:avLst>
              <a:gd name="adj" fmla="val 12069"/>
            </a:avLst>
          </a:prstGeom>
          <a:solidFill>
            <a:srgbClr val="E7F1FF"/>
          </a:solidFill>
          <a:ln/>
        </p:spPr>
      </p:sp>
      <p:sp>
        <p:nvSpPr>
          <p:cNvPr id="16" name="Text 12"/>
          <p:cNvSpPr/>
          <p:nvPr/>
        </p:nvSpPr>
        <p:spPr>
          <a:xfrm>
            <a:off x="5819775" y="1590675"/>
            <a:ext cx="60942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SALES</a:t>
            </a:r>
            <a:endParaRPr lang="en-US" sz="1080" dirty="0"/>
          </a:p>
        </p:txBody>
      </p:sp>
      <p:sp>
        <p:nvSpPr>
          <p:cNvPr id="17" name="Shape 13"/>
          <p:cNvSpPr/>
          <p:nvPr/>
        </p:nvSpPr>
        <p:spPr>
          <a:xfrm>
            <a:off x="6448425" y="1400175"/>
            <a:ext cx="619125" cy="552450"/>
          </a:xfrm>
          <a:prstGeom prst="roundRect">
            <a:avLst>
              <a:gd name="adj" fmla="val 12069"/>
            </a:avLst>
          </a:prstGeom>
          <a:solidFill>
            <a:srgbClr val="E7F1F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8" name="Text 14"/>
          <p:cNvSpPr/>
          <p:nvPr/>
        </p:nvSpPr>
        <p:spPr>
          <a:xfrm>
            <a:off x="6534150" y="1590675"/>
            <a:ext cx="7725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ORDERS</a:t>
            </a:r>
            <a:endParaRPr lang="en-US" sz="1080" dirty="0"/>
          </a:p>
        </p:txBody>
      </p:sp>
      <p:sp>
        <p:nvSpPr>
          <p:cNvPr id="19" name="Shape 15"/>
          <p:cNvSpPr/>
          <p:nvPr/>
        </p:nvSpPr>
        <p:spPr>
          <a:xfrm>
            <a:off x="7162800" y="1400175"/>
            <a:ext cx="619125" cy="552450"/>
          </a:xfrm>
          <a:prstGeom prst="roundRect">
            <a:avLst>
              <a:gd name="adj" fmla="val 12069"/>
            </a:avLst>
          </a:prstGeom>
          <a:solidFill>
            <a:srgbClr val="E7F1FF"/>
          </a:solidFill>
          <a:ln/>
        </p:spPr>
      </p:sp>
      <p:sp>
        <p:nvSpPr>
          <p:cNvPr id="20" name="Text 16"/>
          <p:cNvSpPr/>
          <p:nvPr/>
        </p:nvSpPr>
        <p:spPr>
          <a:xfrm>
            <a:off x="7248525" y="1590675"/>
            <a:ext cx="5893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ITEMS</a:t>
            </a:r>
            <a:endParaRPr lang="en-US" sz="1080" dirty="0"/>
          </a:p>
        </p:txBody>
      </p:sp>
      <p:sp>
        <p:nvSpPr>
          <p:cNvPr id="21" name="Shape 17"/>
          <p:cNvSpPr/>
          <p:nvPr/>
        </p:nvSpPr>
        <p:spPr>
          <a:xfrm>
            <a:off x="5734050" y="2114550"/>
            <a:ext cx="2143125" cy="714375"/>
          </a:xfrm>
          <a:prstGeom prst="roundRect">
            <a:avLst>
              <a:gd name="adj" fmla="val 10667"/>
            </a:avLst>
          </a:prstGeom>
          <a:solidFill>
            <a:srgbClr val="E7F1FF"/>
          </a:solidFill>
          <a:ln/>
        </p:spPr>
      </p:sp>
      <p:sp>
        <p:nvSpPr>
          <p:cNvPr id="22" name="Shape 18"/>
          <p:cNvSpPr/>
          <p:nvPr/>
        </p:nvSpPr>
        <p:spPr>
          <a:xfrm>
            <a:off x="5838825" y="2224088"/>
            <a:ext cx="180975" cy="28575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23" name="Text 19"/>
          <p:cNvSpPr/>
          <p:nvPr/>
        </p:nvSpPr>
        <p:spPr>
          <a:xfrm>
            <a:off x="5838825" y="2224088"/>
            <a:ext cx="217881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 DASHBOARD</a:t>
            </a:r>
            <a:endParaRPr lang="en-US" sz="1430" dirty="0"/>
          </a:p>
        </p:txBody>
      </p:sp>
      <p:sp>
        <p:nvSpPr>
          <p:cNvPr id="24" name="Shape 20"/>
          <p:cNvSpPr/>
          <p:nvPr/>
        </p:nvSpPr>
        <p:spPr>
          <a:xfrm>
            <a:off x="5734050" y="2943225"/>
            <a:ext cx="2143125" cy="714375"/>
          </a:xfrm>
          <a:prstGeom prst="roundRect">
            <a:avLst>
              <a:gd name="adj" fmla="val 10667"/>
            </a:avLst>
          </a:prstGeom>
          <a:solidFill>
            <a:srgbClr val="E7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5838825" y="3052763"/>
            <a:ext cx="180975" cy="28575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26" name="Text 22"/>
          <p:cNvSpPr/>
          <p:nvPr/>
        </p:nvSpPr>
        <p:spPr>
          <a:xfrm>
            <a:off x="5838825" y="3052763"/>
            <a:ext cx="25256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 DASHBOARD</a:t>
            </a:r>
            <a:endParaRPr lang="en-US" sz="1430" dirty="0"/>
          </a:p>
        </p:txBody>
      </p:sp>
      <p:sp>
        <p:nvSpPr>
          <p:cNvPr id="27" name="Shape 23"/>
          <p:cNvSpPr/>
          <p:nvPr/>
        </p:nvSpPr>
        <p:spPr>
          <a:xfrm>
            <a:off x="7858125" y="1571625"/>
            <a:ext cx="95250" cy="333375"/>
          </a:xfrm>
          <a:prstGeom prst="roundRect">
            <a:avLst>
              <a:gd name="adj" fmla="val 30000"/>
            </a:avLst>
          </a:prstGeom>
          <a:solidFill>
            <a:srgbClr val="1677E8"/>
          </a:solidFill>
          <a:ln/>
        </p:spPr>
      </p:sp>
      <p:sp>
        <p:nvSpPr>
          <p:cNvPr id="28" name="Shape 24"/>
          <p:cNvSpPr/>
          <p:nvPr/>
        </p:nvSpPr>
        <p:spPr>
          <a:xfrm>
            <a:off x="7991475" y="1428750"/>
            <a:ext cx="95250" cy="476250"/>
          </a:xfrm>
          <a:prstGeom prst="roundRect">
            <a:avLst>
              <a:gd name="adj" fmla="val 30000"/>
            </a:avLst>
          </a:prstGeom>
          <a:solidFill>
            <a:srgbClr val="F4C542"/>
          </a:solidFill>
          <a:ln/>
        </p:spPr>
      </p:sp>
      <p:sp>
        <p:nvSpPr>
          <p:cNvPr id="29" name="Shape 25"/>
          <p:cNvSpPr/>
          <p:nvPr/>
        </p:nvSpPr>
        <p:spPr>
          <a:xfrm>
            <a:off x="8124825" y="1285875"/>
            <a:ext cx="95250" cy="619125"/>
          </a:xfrm>
          <a:prstGeom prst="roundRect">
            <a:avLst>
              <a:gd name="adj" fmla="val 30000"/>
            </a:avLst>
          </a:prstGeom>
          <a:solidFill>
            <a:srgbClr val="1677E8"/>
          </a:solidFill>
          <a:ln/>
        </p:spPr>
      </p:sp>
      <p:sp>
        <p:nvSpPr>
          <p:cNvPr id="30" name="Text 26"/>
          <p:cNvSpPr/>
          <p:nvPr/>
        </p:nvSpPr>
        <p:spPr>
          <a:xfrm>
            <a:off x="7620000" y="4752975"/>
            <a:ext cx="61223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E7F1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 / 16</a:t>
            </a:r>
            <a:endParaRPr lang="en-US" sz="11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0" y="447675"/>
            <a:ext cx="266700" cy="38100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523875"/>
            <a:ext cx="2288322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PRESENTATION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571500" y="704850"/>
            <a:ext cx="2920893" cy="461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Introduction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7620000" y="4752975"/>
            <a:ext cx="641546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/ 16</a:t>
            </a:r>
            <a:endParaRPr lang="en-US" sz="1130" dirty="0"/>
          </a:p>
        </p:txBody>
      </p:sp>
      <p:sp>
        <p:nvSpPr>
          <p:cNvPr id="8" name="Text 6"/>
          <p:cNvSpPr/>
          <p:nvPr/>
        </p:nvSpPr>
        <p:spPr>
          <a:xfrm>
            <a:off x="571500" y="1314450"/>
            <a:ext cx="4363164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interactive view of Amazon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" y="1588740"/>
            <a:ext cx="4663730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 and product performance.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71500" y="2276158"/>
            <a:ext cx="4377578" cy="528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84"/>
              </a:lnSpc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This project is an Amazon Sales and</a:t>
            </a:r>
            <a:endParaRPr lang="en-US" sz="1580" dirty="0"/>
          </a:p>
          <a:p>
            <a:pPr marL="0" indent="0" algn="l">
              <a:lnSpc>
                <a:spcPts val="1984"/>
              </a:lnSpc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Product Analysis Dashboard.</a:t>
            </a:r>
            <a:endParaRPr lang="en-US" sz="1580" dirty="0"/>
          </a:p>
        </p:txBody>
      </p:sp>
      <p:sp>
        <p:nvSpPr>
          <p:cNvPr id="11" name="Text 9"/>
          <p:cNvSpPr/>
          <p:nvPr/>
        </p:nvSpPr>
        <p:spPr>
          <a:xfrm>
            <a:off x="571500" y="2856291"/>
            <a:ext cx="4139215" cy="528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84"/>
              </a:lnSpc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dashboard was created using</a:t>
            </a:r>
            <a:endParaRPr lang="en-US" sz="1580" dirty="0"/>
          </a:p>
          <a:p>
            <a:pPr marL="0" indent="0" algn="l">
              <a:lnSpc>
                <a:spcPts val="1984"/>
              </a:lnSpc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Microsoft Power BI.</a:t>
            </a:r>
            <a:endParaRPr lang="en-US" sz="1580" dirty="0"/>
          </a:p>
        </p:txBody>
      </p:sp>
      <p:sp>
        <p:nvSpPr>
          <p:cNvPr id="12" name="Text 10"/>
          <p:cNvSpPr/>
          <p:nvPr/>
        </p:nvSpPr>
        <p:spPr>
          <a:xfrm>
            <a:off x="571500" y="3436423"/>
            <a:ext cx="4850532" cy="528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84"/>
              </a:lnSpc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helps analyze sales, orders, products,</a:t>
            </a:r>
            <a:endParaRPr lang="en-US" sz="1580" dirty="0"/>
          </a:p>
          <a:p>
            <a:pPr marL="0" indent="0" algn="l">
              <a:lnSpc>
                <a:spcPts val="1984"/>
              </a:lnSpc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brands, cities, and payment methods.</a:t>
            </a:r>
            <a:endParaRPr lang="en-US" sz="1580" dirty="0"/>
          </a:p>
        </p:txBody>
      </p:sp>
      <p:sp>
        <p:nvSpPr>
          <p:cNvPr id="13" name="Shape 11"/>
          <p:cNvSpPr/>
          <p:nvPr/>
        </p:nvSpPr>
        <p:spPr>
          <a:xfrm>
            <a:off x="4810125" y="1428750"/>
            <a:ext cx="1619250" cy="1571625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4914900" y="15240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14900" y="1571625"/>
            <a:ext cx="274327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10175" y="1514475"/>
            <a:ext cx="783751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7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</a:t>
            </a:r>
            <a:endParaRPr lang="en-US" sz="1730" dirty="0"/>
          </a:p>
        </p:txBody>
      </p:sp>
      <p:sp>
        <p:nvSpPr>
          <p:cNvPr id="17" name="Text 15"/>
          <p:cNvSpPr/>
          <p:nvPr/>
        </p:nvSpPr>
        <p:spPr>
          <a:xfrm>
            <a:off x="5210175" y="1759818"/>
            <a:ext cx="1544985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7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Dashboard</a:t>
            </a:r>
            <a:endParaRPr lang="en-US" sz="1730" dirty="0"/>
          </a:p>
        </p:txBody>
      </p:sp>
      <p:sp>
        <p:nvSpPr>
          <p:cNvPr id="18" name="Shape 16"/>
          <p:cNvSpPr/>
          <p:nvPr/>
        </p:nvSpPr>
        <p:spPr>
          <a:xfrm>
            <a:off x="6619875" y="1428750"/>
            <a:ext cx="1619250" cy="1571625"/>
          </a:xfrm>
          <a:prstGeom prst="roundRect">
            <a:avLst>
              <a:gd name="adj" fmla="val 4848"/>
            </a:avLst>
          </a:prstGeom>
          <a:solidFill>
            <a:srgbClr val="E7F1FF"/>
          </a:solidFill>
          <a:ln/>
        </p:spPr>
      </p:sp>
      <p:sp>
        <p:nvSpPr>
          <p:cNvPr id="19" name="Shape 17"/>
          <p:cNvSpPr/>
          <p:nvPr/>
        </p:nvSpPr>
        <p:spPr>
          <a:xfrm>
            <a:off x="6724650" y="15240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24650" y="1571625"/>
            <a:ext cx="30557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19925" y="1514475"/>
            <a:ext cx="116054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7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</a:t>
            </a:r>
            <a:endParaRPr lang="en-US" sz="1730" dirty="0"/>
          </a:p>
        </p:txBody>
      </p:sp>
      <p:sp>
        <p:nvSpPr>
          <p:cNvPr id="22" name="Text 20"/>
          <p:cNvSpPr/>
          <p:nvPr/>
        </p:nvSpPr>
        <p:spPr>
          <a:xfrm>
            <a:off x="7019925" y="1759818"/>
            <a:ext cx="1544985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7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Dashboard</a:t>
            </a:r>
            <a:endParaRPr lang="en-US" sz="1730" dirty="0"/>
          </a:p>
        </p:txBody>
      </p:sp>
      <p:sp>
        <p:nvSpPr>
          <p:cNvPr id="23" name="Text 21"/>
          <p:cNvSpPr/>
          <p:nvPr/>
        </p:nvSpPr>
        <p:spPr>
          <a:xfrm>
            <a:off x="4810125" y="3200876"/>
            <a:ext cx="4226376" cy="547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63"/>
              </a:lnSpc>
              <a:buNone/>
            </a:pPr>
            <a:r>
              <a:rPr lang="en-US" sz="1650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pages. One interactive sales</a:t>
            </a:r>
            <a:endParaRPr lang="en-US" sz="1650" dirty="0"/>
          </a:p>
          <a:p>
            <a:pPr marL="0" indent="0" algn="l">
              <a:lnSpc>
                <a:spcPts val="2063"/>
              </a:lnSpc>
              <a:buNone/>
            </a:pPr>
            <a:r>
              <a:rPr lang="en-US" sz="1650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and product view.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0" y="447675"/>
            <a:ext cx="266700" cy="38100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523875"/>
            <a:ext cx="2288322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PRESENTATION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571500" y="704850"/>
            <a:ext cx="4200257" cy="461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Project Objectives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7620000" y="4752975"/>
            <a:ext cx="63893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/ 16</a:t>
            </a:r>
            <a:endParaRPr lang="en-US" sz="1130" dirty="0"/>
          </a:p>
        </p:txBody>
      </p:sp>
      <p:sp>
        <p:nvSpPr>
          <p:cNvPr id="8" name="Shape 6"/>
          <p:cNvSpPr/>
          <p:nvPr/>
        </p:nvSpPr>
        <p:spPr>
          <a:xfrm>
            <a:off x="571500" y="1428750"/>
            <a:ext cx="3762375" cy="2714625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76275" y="15240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0" name="Text 8"/>
          <p:cNvSpPr/>
          <p:nvPr/>
        </p:nvSpPr>
        <p:spPr>
          <a:xfrm>
            <a:off x="676275" y="1571625"/>
            <a:ext cx="183007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9650" y="1514475"/>
            <a:ext cx="1990561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 &amp; ORDERS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24375" y="1428750"/>
            <a:ext cx="3762375" cy="2714625"/>
          </a:xfrm>
          <a:prstGeom prst="roundRect">
            <a:avLst>
              <a:gd name="adj" fmla="val 2807"/>
            </a:avLst>
          </a:prstGeom>
          <a:solidFill>
            <a:srgbClr val="E7F1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629150" y="15240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4" name="Text 12"/>
          <p:cNvSpPr/>
          <p:nvPr/>
        </p:nvSpPr>
        <p:spPr>
          <a:xfrm>
            <a:off x="4629150" y="1571625"/>
            <a:ext cx="23776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62525" y="1514475"/>
            <a:ext cx="2803356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PRODUCTS &amp; DECISIONS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95337" y="1995171"/>
            <a:ext cx="4251238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Analyze overall sales performance.</a:t>
            </a:r>
            <a:endParaRPr lang="en-US" sz="1580" dirty="0"/>
          </a:p>
        </p:txBody>
      </p:sp>
      <p:sp>
        <p:nvSpPr>
          <p:cNvPr id="17" name="Text 15"/>
          <p:cNvSpPr/>
          <p:nvPr/>
        </p:nvSpPr>
        <p:spPr>
          <a:xfrm>
            <a:off x="781050" y="2342704"/>
            <a:ext cx="4122383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Monitor total orders and quantity.</a:t>
            </a:r>
            <a:endParaRPr lang="en-US" sz="1580" dirty="0"/>
          </a:p>
        </p:txBody>
      </p:sp>
      <p:sp>
        <p:nvSpPr>
          <p:cNvPr id="18" name="Text 16"/>
          <p:cNvSpPr/>
          <p:nvPr/>
        </p:nvSpPr>
        <p:spPr>
          <a:xfrm>
            <a:off x="781050" y="2670870"/>
            <a:ext cx="379831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Calculate Average Order Value.</a:t>
            </a:r>
            <a:endParaRPr lang="en-US" sz="1580" dirty="0"/>
          </a:p>
        </p:txBody>
      </p:sp>
      <p:sp>
        <p:nvSpPr>
          <p:cNvPr id="19" name="Text 17"/>
          <p:cNvSpPr/>
          <p:nvPr/>
        </p:nvSpPr>
        <p:spPr>
          <a:xfrm>
            <a:off x="781050" y="3003482"/>
            <a:ext cx="3885277" cy="528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84"/>
              </a:lnSpc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Analyze cancelled and returned</a:t>
            </a:r>
            <a:endParaRPr lang="en-US" sz="1580" dirty="0"/>
          </a:p>
          <a:p>
            <a:pPr marL="0" indent="0" algn="l">
              <a:lnSpc>
                <a:spcPts val="1984"/>
              </a:lnSpc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orders.</a:t>
            </a:r>
            <a:endParaRPr lang="en-US" sz="1580" dirty="0"/>
          </a:p>
        </p:txBody>
      </p:sp>
      <p:sp>
        <p:nvSpPr>
          <p:cNvPr id="20" name="Text 18"/>
          <p:cNvSpPr/>
          <p:nvPr/>
        </p:nvSpPr>
        <p:spPr>
          <a:xfrm>
            <a:off x="4733925" y="2018983"/>
            <a:ext cx="4080108" cy="528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84"/>
              </a:lnSpc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Identify top-performing products</a:t>
            </a:r>
            <a:endParaRPr lang="en-US" sz="1580" dirty="0"/>
          </a:p>
          <a:p>
            <a:pPr marL="0" indent="0" algn="l">
              <a:lnSpc>
                <a:spcPts val="1984"/>
              </a:lnSpc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and brands.</a:t>
            </a:r>
            <a:endParaRPr lang="en-US" sz="1580" dirty="0"/>
          </a:p>
        </p:txBody>
      </p:sp>
      <p:sp>
        <p:nvSpPr>
          <p:cNvPr id="21" name="Text 19"/>
          <p:cNvSpPr/>
          <p:nvPr/>
        </p:nvSpPr>
        <p:spPr>
          <a:xfrm>
            <a:off x="4733925" y="2594670"/>
            <a:ext cx="4252689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Analyze sales by city and category.</a:t>
            </a:r>
            <a:endParaRPr lang="en-US" sz="1580" dirty="0"/>
          </a:p>
        </p:txBody>
      </p:sp>
      <p:sp>
        <p:nvSpPr>
          <p:cNvPr id="22" name="Text 20"/>
          <p:cNvSpPr/>
          <p:nvPr/>
        </p:nvSpPr>
        <p:spPr>
          <a:xfrm>
            <a:off x="4733925" y="2922836"/>
            <a:ext cx="383971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Understand payment methods.</a:t>
            </a:r>
            <a:endParaRPr lang="en-US" sz="1580" dirty="0"/>
          </a:p>
        </p:txBody>
      </p:sp>
      <p:sp>
        <p:nvSpPr>
          <p:cNvPr id="23" name="Text 21"/>
          <p:cNvSpPr/>
          <p:nvPr/>
        </p:nvSpPr>
        <p:spPr>
          <a:xfrm>
            <a:off x="4733925" y="3255448"/>
            <a:ext cx="3769772" cy="528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84"/>
              </a:lnSpc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Create an interactive business</a:t>
            </a:r>
            <a:endParaRPr lang="en-US" sz="1580" dirty="0"/>
          </a:p>
          <a:p>
            <a:pPr marL="0" indent="0" algn="l">
              <a:lnSpc>
                <a:spcPts val="1984"/>
              </a:lnSpc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dashboard.</a:t>
            </a:r>
            <a:endParaRPr lang="en-US" sz="15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0" y="447675"/>
            <a:ext cx="266700" cy="38100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523875"/>
            <a:ext cx="2288322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PRESENTATION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571500" y="704850"/>
            <a:ext cx="4004556" cy="461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Dataset Overview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7620000" y="4752975"/>
            <a:ext cx="64396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/ 16</a:t>
            </a:r>
            <a:endParaRPr lang="en-US" sz="1130" dirty="0"/>
          </a:p>
        </p:txBody>
      </p:sp>
      <p:sp>
        <p:nvSpPr>
          <p:cNvPr id="8" name="Text 6"/>
          <p:cNvSpPr/>
          <p:nvPr/>
        </p:nvSpPr>
        <p:spPr>
          <a:xfrm>
            <a:off x="571500" y="1271588"/>
            <a:ext cx="550003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project uses an Amazon sales dataset.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571500" y="1714500"/>
            <a:ext cx="1857375" cy="238125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76275" y="180975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1" name="Text 9"/>
          <p:cNvSpPr/>
          <p:nvPr/>
        </p:nvSpPr>
        <p:spPr>
          <a:xfrm>
            <a:off x="676275" y="1857375"/>
            <a:ext cx="274327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9650" y="1804988"/>
            <a:ext cx="59549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TIME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2619375" y="1714500"/>
            <a:ext cx="1857375" cy="2381250"/>
          </a:xfrm>
          <a:prstGeom prst="roundRect">
            <a:avLst>
              <a:gd name="adj" fmla="val 4103"/>
            </a:avLst>
          </a:prstGeom>
          <a:solidFill>
            <a:srgbClr val="E7F1FF"/>
          </a:solidFill>
          <a:ln/>
        </p:spPr>
      </p:sp>
      <p:sp>
        <p:nvSpPr>
          <p:cNvPr id="14" name="Shape 12"/>
          <p:cNvSpPr/>
          <p:nvPr/>
        </p:nvSpPr>
        <p:spPr>
          <a:xfrm>
            <a:off x="2724150" y="180975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5" name="Text 13"/>
          <p:cNvSpPr/>
          <p:nvPr/>
        </p:nvSpPr>
        <p:spPr>
          <a:xfrm>
            <a:off x="2724150" y="1857375"/>
            <a:ext cx="30557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57525" y="1804988"/>
            <a:ext cx="110318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</a:t>
            </a:r>
            <a:endParaRPr lang="en-US" sz="1430" dirty="0"/>
          </a:p>
        </p:txBody>
      </p:sp>
      <p:sp>
        <p:nvSpPr>
          <p:cNvPr id="17" name="Shape 15"/>
          <p:cNvSpPr/>
          <p:nvPr/>
        </p:nvSpPr>
        <p:spPr>
          <a:xfrm>
            <a:off x="4667250" y="1714500"/>
            <a:ext cx="1857375" cy="238125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772025" y="180975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9" name="Text 17"/>
          <p:cNvSpPr/>
          <p:nvPr/>
        </p:nvSpPr>
        <p:spPr>
          <a:xfrm>
            <a:off x="4772025" y="1857375"/>
            <a:ext cx="302768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05400" y="1804988"/>
            <a:ext cx="99947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ORDER &amp;</a:t>
            </a:r>
            <a:endParaRPr lang="en-US" sz="1430" dirty="0"/>
          </a:p>
        </p:txBody>
      </p:sp>
      <p:sp>
        <p:nvSpPr>
          <p:cNvPr id="21" name="Text 19"/>
          <p:cNvSpPr/>
          <p:nvPr/>
        </p:nvSpPr>
        <p:spPr>
          <a:xfrm>
            <a:off x="5105400" y="2007617"/>
            <a:ext cx="128156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CUSTOMER</a:t>
            </a:r>
            <a:endParaRPr lang="en-US" sz="1430" dirty="0"/>
          </a:p>
        </p:txBody>
      </p:sp>
      <p:sp>
        <p:nvSpPr>
          <p:cNvPr id="22" name="Shape 20"/>
          <p:cNvSpPr/>
          <p:nvPr/>
        </p:nvSpPr>
        <p:spPr>
          <a:xfrm>
            <a:off x="6715125" y="1714500"/>
            <a:ext cx="1857375" cy="2381250"/>
          </a:xfrm>
          <a:prstGeom prst="roundRect">
            <a:avLst>
              <a:gd name="adj" fmla="val 4103"/>
            </a:avLst>
          </a:prstGeom>
          <a:solidFill>
            <a:srgbClr val="E7F1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819900" y="180975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24" name="Text 22"/>
          <p:cNvSpPr/>
          <p:nvPr/>
        </p:nvSpPr>
        <p:spPr>
          <a:xfrm>
            <a:off x="6819900" y="1857375"/>
            <a:ext cx="30808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53275" y="1804988"/>
            <a:ext cx="1266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MEASURES</a:t>
            </a:r>
            <a:endParaRPr lang="en-US" sz="1430" dirty="0"/>
          </a:p>
        </p:txBody>
      </p:sp>
      <p:sp>
        <p:nvSpPr>
          <p:cNvPr id="26" name="Text 24"/>
          <p:cNvSpPr/>
          <p:nvPr/>
        </p:nvSpPr>
        <p:spPr>
          <a:xfrm>
            <a:off x="781050" y="2300288"/>
            <a:ext cx="1378982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Order Date</a:t>
            </a:r>
            <a:endParaRPr lang="en-US" sz="1580" dirty="0"/>
          </a:p>
        </p:txBody>
      </p:sp>
      <p:sp>
        <p:nvSpPr>
          <p:cNvPr id="27" name="Text 25"/>
          <p:cNvSpPr/>
          <p:nvPr/>
        </p:nvSpPr>
        <p:spPr>
          <a:xfrm>
            <a:off x="781050" y="2628454"/>
            <a:ext cx="58011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Year</a:t>
            </a:r>
            <a:endParaRPr lang="en-US" sz="1580" dirty="0"/>
          </a:p>
        </p:txBody>
      </p:sp>
      <p:sp>
        <p:nvSpPr>
          <p:cNvPr id="28" name="Text 26"/>
          <p:cNvSpPr/>
          <p:nvPr/>
        </p:nvSpPr>
        <p:spPr>
          <a:xfrm>
            <a:off x="781050" y="2956620"/>
            <a:ext cx="8545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Month</a:t>
            </a:r>
            <a:endParaRPr lang="en-US" sz="1580" dirty="0"/>
          </a:p>
        </p:txBody>
      </p:sp>
      <p:sp>
        <p:nvSpPr>
          <p:cNvPr id="29" name="Text 27"/>
          <p:cNvSpPr/>
          <p:nvPr/>
        </p:nvSpPr>
        <p:spPr>
          <a:xfrm>
            <a:off x="2828925" y="2300288"/>
            <a:ext cx="179041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Product Name</a:t>
            </a:r>
            <a:endParaRPr lang="en-US" sz="1580" dirty="0"/>
          </a:p>
        </p:txBody>
      </p:sp>
      <p:sp>
        <p:nvSpPr>
          <p:cNvPr id="30" name="Text 28"/>
          <p:cNvSpPr/>
          <p:nvPr/>
        </p:nvSpPr>
        <p:spPr>
          <a:xfrm>
            <a:off x="2828925" y="2628454"/>
            <a:ext cx="1192761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Category</a:t>
            </a:r>
            <a:endParaRPr lang="en-US" sz="1580" dirty="0"/>
          </a:p>
        </p:txBody>
      </p:sp>
      <p:sp>
        <p:nvSpPr>
          <p:cNvPr id="31" name="Text 29"/>
          <p:cNvSpPr/>
          <p:nvPr/>
        </p:nvSpPr>
        <p:spPr>
          <a:xfrm>
            <a:off x="2828925" y="2956620"/>
            <a:ext cx="76904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Brand</a:t>
            </a:r>
            <a:endParaRPr lang="en-US" sz="1580" dirty="0"/>
          </a:p>
        </p:txBody>
      </p:sp>
      <p:sp>
        <p:nvSpPr>
          <p:cNvPr id="32" name="Text 30"/>
          <p:cNvSpPr/>
          <p:nvPr/>
        </p:nvSpPr>
        <p:spPr>
          <a:xfrm>
            <a:off x="2828925" y="3284786"/>
            <a:ext cx="1703539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Product Price</a:t>
            </a:r>
            <a:endParaRPr lang="en-US" sz="1580" dirty="0"/>
          </a:p>
        </p:txBody>
      </p:sp>
      <p:sp>
        <p:nvSpPr>
          <p:cNvPr id="33" name="Text 31"/>
          <p:cNvSpPr/>
          <p:nvPr/>
        </p:nvSpPr>
        <p:spPr>
          <a:xfrm>
            <a:off x="4876800" y="2300288"/>
            <a:ext cx="16201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Order Status</a:t>
            </a:r>
            <a:endParaRPr lang="en-US" sz="1580" dirty="0"/>
          </a:p>
        </p:txBody>
      </p:sp>
      <p:sp>
        <p:nvSpPr>
          <p:cNvPr id="34" name="Text 32"/>
          <p:cNvSpPr/>
          <p:nvPr/>
        </p:nvSpPr>
        <p:spPr>
          <a:xfrm>
            <a:off x="4876800" y="2628454"/>
            <a:ext cx="55293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City</a:t>
            </a:r>
            <a:endParaRPr lang="en-US" sz="1580" dirty="0"/>
          </a:p>
        </p:txBody>
      </p:sp>
      <p:sp>
        <p:nvSpPr>
          <p:cNvPr id="35" name="Text 33"/>
          <p:cNvSpPr/>
          <p:nvPr/>
        </p:nvSpPr>
        <p:spPr>
          <a:xfrm>
            <a:off x="4876800" y="2961066"/>
            <a:ext cx="1127849" cy="528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84"/>
              </a:lnSpc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Payment</a:t>
            </a:r>
            <a:endParaRPr lang="en-US" sz="1580" dirty="0"/>
          </a:p>
          <a:p>
            <a:pPr marL="0" indent="0" algn="l">
              <a:lnSpc>
                <a:spcPts val="1984"/>
              </a:lnSpc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Method</a:t>
            </a:r>
            <a:endParaRPr lang="en-US" sz="1580" dirty="0"/>
          </a:p>
        </p:txBody>
      </p:sp>
      <p:sp>
        <p:nvSpPr>
          <p:cNvPr id="36" name="Text 34"/>
          <p:cNvSpPr/>
          <p:nvPr/>
        </p:nvSpPr>
        <p:spPr>
          <a:xfrm>
            <a:off x="6924675" y="2300288"/>
            <a:ext cx="723483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Sales</a:t>
            </a:r>
            <a:endParaRPr lang="en-US" sz="1580" dirty="0"/>
          </a:p>
        </p:txBody>
      </p:sp>
      <p:sp>
        <p:nvSpPr>
          <p:cNvPr id="37" name="Text 35"/>
          <p:cNvSpPr/>
          <p:nvPr/>
        </p:nvSpPr>
        <p:spPr>
          <a:xfrm>
            <a:off x="6924675" y="2628454"/>
            <a:ext cx="1122916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Quantity</a:t>
            </a:r>
            <a:endParaRPr lang="en-US" sz="15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CB1B2A-86B9-4A14-B2EC-A6834F2E9B87}"/>
              </a:ext>
            </a:extLst>
          </p:cNvPr>
          <p:cNvSpPr txBox="1"/>
          <p:nvPr/>
        </p:nvSpPr>
        <p:spPr>
          <a:xfrm flipH="1">
            <a:off x="604519" y="455098"/>
            <a:ext cx="38803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Data</a:t>
            </a:r>
            <a:r>
              <a:rPr lang="en-US" dirty="0"/>
              <a:t> </a:t>
            </a:r>
            <a:r>
              <a:rPr lang="en-US" sz="3200" b="1" dirty="0"/>
              <a:t>preprocessing</a:t>
            </a:r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70CA8-FDAD-4E66-8D0F-BF384C3C1D52}"/>
              </a:ext>
            </a:extLst>
          </p:cNvPr>
          <p:cNvSpPr txBox="1"/>
          <p:nvPr/>
        </p:nvSpPr>
        <p:spPr>
          <a:xfrm rot="10800000" flipH="1" flipV="1">
            <a:off x="844005" y="1041250"/>
            <a:ext cx="6971938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900"/>
              </a:spcAft>
              <a:defRPr sz="1900"/>
            </a:pPr>
            <a:r>
              <a:rPr lang="en-US" dirty="0"/>
              <a:t>• Removed duplicate records.</a:t>
            </a:r>
          </a:p>
          <a:p>
            <a:pPr>
              <a:spcAft>
                <a:spcPts val="900"/>
              </a:spcAft>
              <a:defRPr sz="1900"/>
            </a:pPr>
            <a:r>
              <a:rPr lang="en-US" dirty="0"/>
              <a:t>• Checked and handled missing or null values.</a:t>
            </a:r>
          </a:p>
          <a:p>
            <a:pPr>
              <a:spcAft>
                <a:spcPts val="900"/>
              </a:spcAft>
              <a:defRPr sz="1900"/>
            </a:pPr>
            <a:r>
              <a:rPr lang="en-US" dirty="0"/>
              <a:t>• Corrected data types for each column.</a:t>
            </a:r>
          </a:p>
          <a:p>
            <a:pPr>
              <a:spcAft>
                <a:spcPts val="900"/>
              </a:spcAft>
              <a:defRPr sz="1900"/>
            </a:pPr>
            <a:r>
              <a:rPr lang="en-US" dirty="0"/>
              <a:t>• Standardized date and time formats.</a:t>
            </a:r>
          </a:p>
          <a:p>
            <a:pPr>
              <a:spcAft>
                <a:spcPts val="900"/>
              </a:spcAft>
              <a:defRPr sz="1900"/>
            </a:pPr>
            <a:r>
              <a:rPr lang="en-US" dirty="0"/>
              <a:t>• Checked sales, quantity, and price values for whole number.</a:t>
            </a:r>
          </a:p>
          <a:p>
            <a:pPr>
              <a:spcAft>
                <a:spcPts val="900"/>
              </a:spcAft>
              <a:defRPr sz="1900"/>
            </a:pPr>
            <a:r>
              <a:rPr lang="en-US" dirty="0"/>
              <a:t>• Cleaned product, brand, city, and category names.</a:t>
            </a:r>
          </a:p>
          <a:p>
            <a:pPr>
              <a:spcAft>
                <a:spcPts val="900"/>
              </a:spcAft>
              <a:defRPr sz="1900"/>
            </a:pPr>
            <a:r>
              <a:rPr lang="en-US" dirty="0"/>
              <a:t>• Checked order status and payment method values.</a:t>
            </a:r>
          </a:p>
          <a:p>
            <a:pPr>
              <a:spcAft>
                <a:spcPts val="900"/>
              </a:spcAft>
              <a:defRPr sz="1900"/>
            </a:pPr>
            <a:r>
              <a:rPr lang="en-US" dirty="0"/>
              <a:t>• Created calculated columns and measures required for analysis.</a:t>
            </a:r>
          </a:p>
          <a:p>
            <a:pPr>
              <a:spcAft>
                <a:spcPts val="900"/>
              </a:spcAft>
              <a:defRPr sz="1900"/>
            </a:pPr>
            <a:r>
              <a:rPr lang="en-US" dirty="0"/>
              <a:t>• Loaded the cleaned dataset into Power BI for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2644906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0" y="447675"/>
            <a:ext cx="266700" cy="38100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523875"/>
            <a:ext cx="2288322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PRESENTATION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571500" y="704850"/>
            <a:ext cx="4744216" cy="461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Tools &amp; Technologies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7620000" y="4752975"/>
            <a:ext cx="639805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/ 16</a:t>
            </a:r>
            <a:endParaRPr lang="en-US" sz="1130" dirty="0"/>
          </a:p>
        </p:txBody>
      </p:sp>
      <p:sp>
        <p:nvSpPr>
          <p:cNvPr id="8" name="Shape 6"/>
          <p:cNvSpPr/>
          <p:nvPr/>
        </p:nvSpPr>
        <p:spPr>
          <a:xfrm>
            <a:off x="571500" y="1428750"/>
            <a:ext cx="3762375" cy="2857500"/>
          </a:xfrm>
          <a:prstGeom prst="roundRect">
            <a:avLst>
              <a:gd name="adj" fmla="val 2667"/>
            </a:avLst>
          </a:prstGeom>
          <a:solidFill>
            <a:srgbClr val="E7F1FF"/>
          </a:solidFill>
          <a:ln/>
        </p:spPr>
      </p:sp>
      <p:sp>
        <p:nvSpPr>
          <p:cNvPr id="9" name="Shape 7"/>
          <p:cNvSpPr/>
          <p:nvPr/>
        </p:nvSpPr>
        <p:spPr>
          <a:xfrm>
            <a:off x="676275" y="15240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0" name="Text 8"/>
          <p:cNvSpPr/>
          <p:nvPr/>
        </p:nvSpPr>
        <p:spPr>
          <a:xfrm>
            <a:off x="676275" y="1571625"/>
            <a:ext cx="23776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9650" y="1514475"/>
            <a:ext cx="1389720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Power BI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4524375" y="1428750"/>
            <a:ext cx="3762375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629150" y="15240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4" name="Text 12"/>
          <p:cNvSpPr/>
          <p:nvPr/>
        </p:nvSpPr>
        <p:spPr>
          <a:xfrm>
            <a:off x="4629150" y="1571625"/>
            <a:ext cx="29280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XL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62525" y="1514475"/>
            <a:ext cx="875943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Excel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781050" y="2033587"/>
            <a:ext cx="2238115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Data Visualization</a:t>
            </a:r>
            <a:endParaRPr lang="en-US" sz="1580" dirty="0"/>
          </a:p>
        </p:txBody>
      </p:sp>
      <p:sp>
        <p:nvSpPr>
          <p:cNvPr id="17" name="Text 15"/>
          <p:cNvSpPr/>
          <p:nvPr/>
        </p:nvSpPr>
        <p:spPr>
          <a:xfrm>
            <a:off x="781050" y="2361754"/>
            <a:ext cx="25016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Dashboard Creation</a:t>
            </a:r>
            <a:endParaRPr lang="en-US" sz="1580" dirty="0"/>
          </a:p>
        </p:txBody>
      </p:sp>
      <p:sp>
        <p:nvSpPr>
          <p:cNvPr id="18" name="Text 16"/>
          <p:cNvSpPr/>
          <p:nvPr/>
        </p:nvSpPr>
        <p:spPr>
          <a:xfrm>
            <a:off x="781050" y="2689920"/>
            <a:ext cx="1509772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KPI Analysis</a:t>
            </a:r>
            <a:endParaRPr lang="en-US" sz="1580" dirty="0"/>
          </a:p>
        </p:txBody>
      </p:sp>
      <p:sp>
        <p:nvSpPr>
          <p:cNvPr id="19" name="Text 17"/>
          <p:cNvSpPr/>
          <p:nvPr/>
        </p:nvSpPr>
        <p:spPr>
          <a:xfrm>
            <a:off x="781050" y="3018086"/>
            <a:ext cx="21733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Interactive Filters</a:t>
            </a:r>
            <a:endParaRPr lang="en-US" sz="1580" dirty="0"/>
          </a:p>
        </p:txBody>
      </p:sp>
      <p:sp>
        <p:nvSpPr>
          <p:cNvPr id="20" name="Text 18"/>
          <p:cNvSpPr/>
          <p:nvPr/>
        </p:nvSpPr>
        <p:spPr>
          <a:xfrm>
            <a:off x="781050" y="3346252"/>
            <a:ext cx="1702571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Data Analysis</a:t>
            </a:r>
            <a:endParaRPr lang="en-US" sz="1580" dirty="0"/>
          </a:p>
        </p:txBody>
      </p:sp>
      <p:sp>
        <p:nvSpPr>
          <p:cNvPr id="21" name="Text 19"/>
          <p:cNvSpPr/>
          <p:nvPr/>
        </p:nvSpPr>
        <p:spPr>
          <a:xfrm>
            <a:off x="781050" y="3674418"/>
            <a:ext cx="180917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DAX Measures</a:t>
            </a:r>
            <a:endParaRPr lang="en-US" sz="1580" dirty="0"/>
          </a:p>
        </p:txBody>
      </p:sp>
      <p:sp>
        <p:nvSpPr>
          <p:cNvPr id="22" name="Text 20"/>
          <p:cNvSpPr/>
          <p:nvPr/>
        </p:nvSpPr>
        <p:spPr>
          <a:xfrm>
            <a:off x="4733925" y="2033587"/>
            <a:ext cx="211622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Data Preparation</a:t>
            </a:r>
            <a:endParaRPr lang="en-US" sz="1580" dirty="0"/>
          </a:p>
        </p:txBody>
      </p:sp>
      <p:sp>
        <p:nvSpPr>
          <p:cNvPr id="23" name="Text 21"/>
          <p:cNvSpPr/>
          <p:nvPr/>
        </p:nvSpPr>
        <p:spPr>
          <a:xfrm>
            <a:off x="4733925" y="2361754"/>
            <a:ext cx="225398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Data Organization</a:t>
            </a:r>
            <a:endParaRPr lang="en-US" sz="1580" dirty="0"/>
          </a:p>
        </p:txBody>
      </p:sp>
      <p:sp>
        <p:nvSpPr>
          <p:cNvPr id="24" name="Text 22"/>
          <p:cNvSpPr/>
          <p:nvPr/>
        </p:nvSpPr>
        <p:spPr>
          <a:xfrm>
            <a:off x="4733925" y="2689920"/>
            <a:ext cx="2424046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Initial Data Analysis</a:t>
            </a:r>
            <a:endParaRPr lang="en-US" sz="1580" dirty="0"/>
          </a:p>
        </p:txBody>
      </p:sp>
      <p:sp>
        <p:nvSpPr>
          <p:cNvPr id="25" name="Text 23"/>
          <p:cNvSpPr/>
          <p:nvPr/>
        </p:nvSpPr>
        <p:spPr>
          <a:xfrm>
            <a:off x="4733925" y="3514725"/>
            <a:ext cx="3236550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Preparation and initial analysis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71500" y="447675"/>
            <a:ext cx="266700" cy="38100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523875"/>
            <a:ext cx="2288322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PRESENTATION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571500" y="704850"/>
            <a:ext cx="3835167" cy="461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 Dashboard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7620000" y="4752975"/>
            <a:ext cx="646383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 / 16</a:t>
            </a:r>
            <a:endParaRPr lang="en-US" sz="1130" dirty="0"/>
          </a:p>
        </p:txBody>
      </p:sp>
      <p:sp>
        <p:nvSpPr>
          <p:cNvPr id="8" name="Text 6"/>
          <p:cNvSpPr/>
          <p:nvPr/>
        </p:nvSpPr>
        <p:spPr>
          <a:xfrm>
            <a:off x="571500" y="1252537"/>
            <a:ext cx="548068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 overview of Amazon sales performance.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71500" y="1581150"/>
            <a:ext cx="47476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KPIs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1500" y="1819275"/>
            <a:ext cx="144780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38175" y="1977628"/>
            <a:ext cx="127943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Total Sales</a:t>
            </a:r>
            <a:endParaRPr lang="en-US" sz="1430" dirty="0"/>
          </a:p>
        </p:txBody>
      </p:sp>
      <p:sp>
        <p:nvSpPr>
          <p:cNvPr id="12" name="Shape 10"/>
          <p:cNvSpPr/>
          <p:nvPr/>
        </p:nvSpPr>
        <p:spPr>
          <a:xfrm>
            <a:off x="2171700" y="1819275"/>
            <a:ext cx="1447800" cy="561975"/>
          </a:xfrm>
          <a:prstGeom prst="roundRect">
            <a:avLst>
              <a:gd name="adj" fmla="val 13559"/>
            </a:avLst>
          </a:prstGeom>
          <a:solidFill>
            <a:srgbClr val="E7F1FF"/>
          </a:solidFill>
          <a:ln/>
        </p:spPr>
      </p:sp>
      <p:sp>
        <p:nvSpPr>
          <p:cNvPr id="13" name="Text 11"/>
          <p:cNvSpPr/>
          <p:nvPr/>
        </p:nvSpPr>
        <p:spPr>
          <a:xfrm>
            <a:off x="2238375" y="1977628"/>
            <a:ext cx="142667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Total Orders</a:t>
            </a:r>
            <a:endParaRPr lang="en-US" sz="1430" dirty="0"/>
          </a:p>
        </p:txBody>
      </p:sp>
      <p:sp>
        <p:nvSpPr>
          <p:cNvPr id="14" name="Shape 12"/>
          <p:cNvSpPr/>
          <p:nvPr/>
        </p:nvSpPr>
        <p:spPr>
          <a:xfrm>
            <a:off x="3771900" y="1819275"/>
            <a:ext cx="144780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3838575" y="2022872"/>
            <a:ext cx="168293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Total Quantity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5372100" y="1819275"/>
            <a:ext cx="1447800" cy="561975"/>
          </a:xfrm>
          <a:prstGeom prst="roundRect">
            <a:avLst>
              <a:gd name="adj" fmla="val 13559"/>
            </a:avLst>
          </a:prstGeom>
          <a:solidFill>
            <a:srgbClr val="E7F1FF"/>
          </a:solidFill>
          <a:ln/>
        </p:spPr>
      </p:sp>
      <p:sp>
        <p:nvSpPr>
          <p:cNvPr id="17" name="Text 15"/>
          <p:cNvSpPr/>
          <p:nvPr/>
        </p:nvSpPr>
        <p:spPr>
          <a:xfrm>
            <a:off x="5438775" y="1909762"/>
            <a:ext cx="166194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Average Order</a:t>
            </a:r>
            <a:endParaRPr lang="en-US" sz="1430" dirty="0"/>
          </a:p>
        </p:txBody>
      </p:sp>
      <p:sp>
        <p:nvSpPr>
          <p:cNvPr id="18" name="Text 16"/>
          <p:cNvSpPr/>
          <p:nvPr/>
        </p:nvSpPr>
        <p:spPr>
          <a:xfrm>
            <a:off x="5438775" y="2135981"/>
            <a:ext cx="67482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Value</a:t>
            </a:r>
            <a:endParaRPr lang="en-US" sz="1430" dirty="0"/>
          </a:p>
        </p:txBody>
      </p:sp>
      <p:sp>
        <p:nvSpPr>
          <p:cNvPr id="19" name="Shape 17"/>
          <p:cNvSpPr/>
          <p:nvPr/>
        </p:nvSpPr>
        <p:spPr>
          <a:xfrm>
            <a:off x="6972300" y="1819275"/>
            <a:ext cx="144780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038975" y="1909762"/>
            <a:ext cx="117428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Cancelled</a:t>
            </a:r>
            <a:endParaRPr lang="en-US" sz="1430" dirty="0"/>
          </a:p>
        </p:txBody>
      </p:sp>
      <p:sp>
        <p:nvSpPr>
          <p:cNvPr id="21" name="Text 19"/>
          <p:cNvSpPr/>
          <p:nvPr/>
        </p:nvSpPr>
        <p:spPr>
          <a:xfrm>
            <a:off x="7038975" y="2135981"/>
            <a:ext cx="80464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Orders</a:t>
            </a:r>
            <a:endParaRPr lang="en-US" sz="1430" dirty="0"/>
          </a:p>
        </p:txBody>
      </p:sp>
      <p:sp>
        <p:nvSpPr>
          <p:cNvPr id="33" name="Text 31"/>
          <p:cNvSpPr/>
          <p:nvPr/>
        </p:nvSpPr>
        <p:spPr>
          <a:xfrm>
            <a:off x="4629150" y="3336131"/>
            <a:ext cx="810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43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97D61AE6-961A-4A24-8307-0187C601F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686" y="2762251"/>
            <a:ext cx="1728927" cy="1185092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99CA1D80-E039-408B-A1EC-8B40B97A77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7613" y="2888343"/>
            <a:ext cx="1747436" cy="1002619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22D41947-976B-4065-B381-71B14A1FDC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9074" y="3055256"/>
            <a:ext cx="1395185" cy="740229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441668E1-AE17-45C5-BF61-DAE64E126E4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540" t="5004"/>
          <a:stretch/>
        </p:blipFill>
        <p:spPr>
          <a:xfrm>
            <a:off x="5521508" y="2888344"/>
            <a:ext cx="1309677" cy="856342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2D71F77C-A77C-47BF-A23F-6F49C10FD4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2300" y="3004456"/>
            <a:ext cx="1060505" cy="79102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0" y="447675"/>
            <a:ext cx="266700" cy="38100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523875"/>
            <a:ext cx="2288322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PRESENTATION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571500" y="704850"/>
            <a:ext cx="3264798" cy="461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 Analysis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7620000" y="4752975"/>
            <a:ext cx="63003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 / 16</a:t>
            </a:r>
            <a:endParaRPr lang="en-US" sz="1130" dirty="0"/>
          </a:p>
        </p:txBody>
      </p:sp>
      <p:sp>
        <p:nvSpPr>
          <p:cNvPr id="8" name="Text 6"/>
          <p:cNvSpPr/>
          <p:nvPr/>
        </p:nvSpPr>
        <p:spPr>
          <a:xfrm>
            <a:off x="571500" y="1300163"/>
            <a:ext cx="494185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Sales Dashboard helps to analyze: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571500" y="1695450"/>
            <a:ext cx="5048250" cy="2524125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76275" y="17907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1" name="Text 9"/>
          <p:cNvSpPr/>
          <p:nvPr/>
        </p:nvSpPr>
        <p:spPr>
          <a:xfrm>
            <a:off x="676275" y="1838325"/>
            <a:ext cx="22315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↗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9650" y="1781175"/>
            <a:ext cx="258472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 PERFORMANCE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81050" y="2219325"/>
            <a:ext cx="3260348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Sales performance over time.</a:t>
            </a:r>
            <a:endParaRPr lang="en-US" sz="1430" dirty="0"/>
          </a:p>
        </p:txBody>
      </p:sp>
      <p:sp>
        <p:nvSpPr>
          <p:cNvPr id="14" name="Text 12"/>
          <p:cNvSpPr/>
          <p:nvPr/>
        </p:nvSpPr>
        <p:spPr>
          <a:xfrm>
            <a:off x="781050" y="2484090"/>
            <a:ext cx="359835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Monthly and yearly sales trends.</a:t>
            </a:r>
            <a:endParaRPr lang="en-US" sz="1430" dirty="0"/>
          </a:p>
        </p:txBody>
      </p:sp>
      <p:sp>
        <p:nvSpPr>
          <p:cNvPr id="15" name="Text 13"/>
          <p:cNvSpPr/>
          <p:nvPr/>
        </p:nvSpPr>
        <p:spPr>
          <a:xfrm>
            <a:off x="781050" y="2748855"/>
            <a:ext cx="237906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Category-wise sales.</a:t>
            </a:r>
            <a:endParaRPr lang="en-US" sz="1430" dirty="0"/>
          </a:p>
        </p:txBody>
      </p:sp>
      <p:sp>
        <p:nvSpPr>
          <p:cNvPr id="16" name="Text 14"/>
          <p:cNvSpPr/>
          <p:nvPr/>
        </p:nvSpPr>
        <p:spPr>
          <a:xfrm>
            <a:off x="781050" y="3013621"/>
            <a:ext cx="151141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Order status.</a:t>
            </a:r>
            <a:endParaRPr lang="en-US" sz="1430" dirty="0"/>
          </a:p>
        </p:txBody>
      </p:sp>
      <p:sp>
        <p:nvSpPr>
          <p:cNvPr id="17" name="Text 15"/>
          <p:cNvSpPr/>
          <p:nvPr/>
        </p:nvSpPr>
        <p:spPr>
          <a:xfrm>
            <a:off x="781050" y="3278386"/>
            <a:ext cx="1990948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Cancelled orders.</a:t>
            </a:r>
            <a:endParaRPr lang="en-US" sz="1430" dirty="0"/>
          </a:p>
        </p:txBody>
      </p:sp>
      <p:sp>
        <p:nvSpPr>
          <p:cNvPr id="18" name="Text 16"/>
          <p:cNvSpPr/>
          <p:nvPr/>
        </p:nvSpPr>
        <p:spPr>
          <a:xfrm>
            <a:off x="781050" y="3543151"/>
            <a:ext cx="228909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Average order value.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781050" y="3807916"/>
            <a:ext cx="283344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Brand-wise performance.</a:t>
            </a:r>
            <a:endParaRPr lang="en-US" sz="1430" dirty="0"/>
          </a:p>
        </p:txBody>
      </p:sp>
      <p:sp>
        <p:nvSpPr>
          <p:cNvPr id="20" name="Shape 18"/>
          <p:cNvSpPr/>
          <p:nvPr/>
        </p:nvSpPr>
        <p:spPr>
          <a:xfrm>
            <a:off x="5905500" y="1695450"/>
            <a:ext cx="2381250" cy="2524125"/>
          </a:xfrm>
          <a:prstGeom prst="roundRect">
            <a:avLst>
              <a:gd name="adj" fmla="val 4400"/>
            </a:avLst>
          </a:prstGeom>
          <a:solidFill>
            <a:srgbClr val="0D2340"/>
          </a:solidFill>
          <a:ln/>
        </p:spPr>
      </p:sp>
      <p:sp>
        <p:nvSpPr>
          <p:cNvPr id="21" name="Text 19"/>
          <p:cNvSpPr/>
          <p:nvPr/>
        </p:nvSpPr>
        <p:spPr>
          <a:xfrm>
            <a:off x="6191250" y="2038350"/>
            <a:ext cx="709166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80" b="1" dirty="0">
                <a:solidFill>
                  <a:srgbClr val="F4C54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SALES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6191250" y="2495550"/>
            <a:ext cx="1623440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helps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6191250" y="2800127"/>
            <a:ext cx="1793118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businesses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6191250" y="3104704"/>
            <a:ext cx="2100553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monitor their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6191250" y="3409280"/>
            <a:ext cx="195844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overall sales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6191250" y="3713857"/>
            <a:ext cx="2160047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performance.</a:t>
            </a:r>
            <a:endParaRPr lang="en-US" sz="1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C7788C-2C99-4665-BF7B-501DF38B00D2}"/>
              </a:ext>
            </a:extLst>
          </p:cNvPr>
          <p:cNvSpPr txBox="1"/>
          <p:nvPr/>
        </p:nvSpPr>
        <p:spPr>
          <a:xfrm>
            <a:off x="471714" y="416378"/>
            <a:ext cx="39478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Sales </a:t>
            </a:r>
            <a:r>
              <a:rPr lang="en-US" sz="3600" b="1" dirty="0" err="1"/>
              <a:t>performence</a:t>
            </a:r>
            <a:endParaRPr lang="en-IN" sz="36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7A89E6-1199-4F50-829D-E8A9CE11A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381" y="2011090"/>
            <a:ext cx="2800494" cy="17653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870BE3-71E5-4366-9458-C1EA44A3FFEE}"/>
              </a:ext>
            </a:extLst>
          </p:cNvPr>
          <p:cNvSpPr txBox="1"/>
          <p:nvPr/>
        </p:nvSpPr>
        <p:spPr>
          <a:xfrm flipH="1">
            <a:off x="880290" y="1531257"/>
            <a:ext cx="36263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are sales changing over time?</a:t>
            </a: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59632B-F4F9-4FD8-A225-1EC287E5D6D4}"/>
              </a:ext>
            </a:extLst>
          </p:cNvPr>
          <p:cNvSpPr txBox="1"/>
          <p:nvPr/>
        </p:nvSpPr>
        <p:spPr>
          <a:xfrm>
            <a:off x="4932682" y="1900589"/>
            <a:ext cx="323886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line chart shows the sales trend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It helps us identify whether sales are increasing, decreasing, or fluctuating during different periods.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9815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400199-2D12-4C96-B27F-332CDC023475}"/>
              </a:ext>
            </a:extLst>
          </p:cNvPr>
          <p:cNvSpPr txBox="1"/>
          <p:nvPr/>
        </p:nvSpPr>
        <p:spPr>
          <a:xfrm>
            <a:off x="566057" y="855311"/>
            <a:ext cx="4129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are yearly sales changing? 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60A44-73F4-4783-B88D-3741AB72909A}"/>
              </a:ext>
            </a:extLst>
          </p:cNvPr>
          <p:cNvSpPr txBox="1"/>
          <p:nvPr/>
        </p:nvSpPr>
        <p:spPr>
          <a:xfrm>
            <a:off x="566057" y="425450"/>
            <a:ext cx="20374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295107-0FBD-41C3-A28A-A206345AD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28" y="1416000"/>
            <a:ext cx="2794144" cy="19177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CD76CB-8A47-48B2-AE50-AF8A686A0992}"/>
              </a:ext>
            </a:extLst>
          </p:cNvPr>
          <p:cNvSpPr txBox="1"/>
          <p:nvPr/>
        </p:nvSpPr>
        <p:spPr>
          <a:xfrm>
            <a:off x="4152900" y="1556087"/>
            <a:ext cx="32131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This line chart shows yearly sales performance.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By comparing each year, we can understand the overall growth or decline in sales and identify the years with higher or lower sales.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76017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>
            <a:extLst>
              <a:ext uri="{FF2B5EF4-FFF2-40B4-BE49-F238E27FC236}">
                <a16:creationId xmlns:a16="http://schemas.microsoft.com/office/drawing/2014/main" id="{7F941CF0-D1B7-4D06-AA52-A6EC176F1CD7}"/>
              </a:ext>
            </a:extLst>
          </p:cNvPr>
          <p:cNvSpPr/>
          <p:nvPr/>
        </p:nvSpPr>
        <p:spPr>
          <a:xfrm>
            <a:off x="0" y="-19685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CFB3DD-9A77-49E1-A45C-2A1579700ACF}"/>
              </a:ext>
            </a:extLst>
          </p:cNvPr>
          <p:cNvSpPr txBox="1"/>
          <p:nvPr/>
        </p:nvSpPr>
        <p:spPr>
          <a:xfrm>
            <a:off x="342900" y="647700"/>
            <a:ext cx="4819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Which category has the highest sales?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D86E064-0F3A-4565-AC8D-B9870898E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046" y="1339850"/>
            <a:ext cx="3079908" cy="1803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AB2EC62-48E7-46EC-B346-45E4E6CB9F20}"/>
              </a:ext>
            </a:extLst>
          </p:cNvPr>
          <p:cNvSpPr txBox="1"/>
          <p:nvPr/>
        </p:nvSpPr>
        <p:spPr>
          <a:xfrm>
            <a:off x="4451350" y="1320800"/>
            <a:ext cx="37211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This bar chart compares sales across different categories.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The category with the tallest bar represents the highest sales.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This helps us identify which category contributes the most to overall sales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4300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>
            <a:extLst>
              <a:ext uri="{FF2B5EF4-FFF2-40B4-BE49-F238E27FC236}">
                <a16:creationId xmlns:a16="http://schemas.microsoft.com/office/drawing/2014/main" id="{0B3E3E4F-FD9C-4D76-8008-6F81048EA8D0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7DF64F-0539-4C00-B02A-EC8583D6D1F8}"/>
              </a:ext>
            </a:extLst>
          </p:cNvPr>
          <p:cNvSpPr txBox="1"/>
          <p:nvPr/>
        </p:nvSpPr>
        <p:spPr>
          <a:xfrm>
            <a:off x="527050" y="387350"/>
            <a:ext cx="4787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What is the order status distribution? 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204C0D-3177-479E-89BB-7F9F062C46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106" y="1685879"/>
            <a:ext cx="2673487" cy="17717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D8650B-69BD-4A14-8947-C8DBB9C5731D}"/>
              </a:ext>
            </a:extLst>
          </p:cNvPr>
          <p:cNvSpPr txBox="1"/>
          <p:nvPr/>
        </p:nvSpPr>
        <p:spPr>
          <a:xfrm>
            <a:off x="4292600" y="1144032"/>
            <a:ext cx="33528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This donut chart shows the distribution of orders based on their status.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Each section represents a different order status, and the size of each section shows its contribution to the total number of orders.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It helps us understand the overall order fulfillment and cancellation situation.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4957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" name="Shape 2"/>
          <p:cNvSpPr/>
          <p:nvPr/>
        </p:nvSpPr>
        <p:spPr>
          <a:xfrm>
            <a:off x="571500" y="447675"/>
            <a:ext cx="266700" cy="38100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523875"/>
            <a:ext cx="2288322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PRESENTATION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571500" y="704850"/>
            <a:ext cx="4457678" cy="461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 Dashboard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7620000" y="4752975"/>
            <a:ext cx="644738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 / 16</a:t>
            </a:r>
            <a:endParaRPr lang="en-US" sz="1130" dirty="0"/>
          </a:p>
        </p:txBody>
      </p:sp>
      <p:sp>
        <p:nvSpPr>
          <p:cNvPr id="8" name="Text 6"/>
          <p:cNvSpPr/>
          <p:nvPr/>
        </p:nvSpPr>
        <p:spPr>
          <a:xfrm>
            <a:off x="571500" y="1252537"/>
            <a:ext cx="472854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product-level view of performance.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71500" y="1581150"/>
            <a:ext cx="47476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KPIs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1500" y="1819275"/>
            <a:ext cx="144780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38175" y="2013347"/>
            <a:ext cx="171398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Total Products</a:t>
            </a:r>
            <a:endParaRPr lang="en-US" sz="1430" dirty="0"/>
          </a:p>
        </p:txBody>
      </p:sp>
      <p:sp>
        <p:nvSpPr>
          <p:cNvPr id="12" name="Shape 10"/>
          <p:cNvSpPr/>
          <p:nvPr/>
        </p:nvSpPr>
        <p:spPr>
          <a:xfrm>
            <a:off x="2171700" y="1819275"/>
            <a:ext cx="1447800" cy="561975"/>
          </a:xfrm>
          <a:prstGeom prst="roundRect">
            <a:avLst>
              <a:gd name="adj" fmla="val 13559"/>
            </a:avLst>
          </a:prstGeom>
          <a:solidFill>
            <a:srgbClr val="E7F1FF"/>
          </a:solidFill>
          <a:ln/>
        </p:spPr>
      </p:sp>
      <p:sp>
        <p:nvSpPr>
          <p:cNvPr id="13" name="Text 11"/>
          <p:cNvSpPr/>
          <p:nvPr/>
        </p:nvSpPr>
        <p:spPr>
          <a:xfrm>
            <a:off x="2238375" y="2013347"/>
            <a:ext cx="16285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 Sales</a:t>
            </a:r>
            <a:endParaRPr lang="en-US" sz="1430" dirty="0"/>
          </a:p>
        </p:txBody>
      </p:sp>
      <p:sp>
        <p:nvSpPr>
          <p:cNvPr id="14" name="Shape 12"/>
          <p:cNvSpPr/>
          <p:nvPr/>
        </p:nvSpPr>
        <p:spPr>
          <a:xfrm>
            <a:off x="3771900" y="1819275"/>
            <a:ext cx="144780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3838575" y="1900238"/>
            <a:ext cx="96861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</a:t>
            </a:r>
            <a:endParaRPr lang="en-US" sz="1430" dirty="0"/>
          </a:p>
        </p:txBody>
      </p:sp>
      <p:sp>
        <p:nvSpPr>
          <p:cNvPr id="16" name="Text 14"/>
          <p:cNvSpPr/>
          <p:nvPr/>
        </p:nvSpPr>
        <p:spPr>
          <a:xfrm>
            <a:off x="3838575" y="2126456"/>
            <a:ext cx="10608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Quantity</a:t>
            </a:r>
            <a:endParaRPr lang="en-US" sz="1430" dirty="0"/>
          </a:p>
        </p:txBody>
      </p:sp>
      <p:sp>
        <p:nvSpPr>
          <p:cNvPr id="17" name="Shape 15"/>
          <p:cNvSpPr/>
          <p:nvPr/>
        </p:nvSpPr>
        <p:spPr>
          <a:xfrm>
            <a:off x="5372100" y="1819275"/>
            <a:ext cx="1447800" cy="561975"/>
          </a:xfrm>
          <a:prstGeom prst="roundRect">
            <a:avLst>
              <a:gd name="adj" fmla="val 13559"/>
            </a:avLst>
          </a:prstGeom>
          <a:solidFill>
            <a:srgbClr val="E7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5438775" y="2014538"/>
            <a:ext cx="9751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Average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5438775" y="2240756"/>
            <a:ext cx="159983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 Price</a:t>
            </a:r>
            <a:endParaRPr lang="en-US" sz="1430" dirty="0"/>
          </a:p>
        </p:txBody>
      </p:sp>
      <p:sp>
        <p:nvSpPr>
          <p:cNvPr id="20" name="Shape 18"/>
          <p:cNvSpPr/>
          <p:nvPr/>
        </p:nvSpPr>
        <p:spPr>
          <a:xfrm>
            <a:off x="6972300" y="1819275"/>
            <a:ext cx="144780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7038975" y="1900238"/>
            <a:ext cx="11140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Returned</a:t>
            </a:r>
            <a:endParaRPr lang="en-US" sz="1430" dirty="0"/>
          </a:p>
        </p:txBody>
      </p:sp>
      <p:sp>
        <p:nvSpPr>
          <p:cNvPr id="22" name="Text 20"/>
          <p:cNvSpPr/>
          <p:nvPr/>
        </p:nvSpPr>
        <p:spPr>
          <a:xfrm>
            <a:off x="7038975" y="2126456"/>
            <a:ext cx="80464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Orders</a:t>
            </a:r>
            <a:endParaRPr lang="en-US" sz="1430" dirty="0"/>
          </a:p>
        </p:txBody>
      </p:sp>
      <p:sp>
        <p:nvSpPr>
          <p:cNvPr id="23" name="Text 21"/>
          <p:cNvSpPr/>
          <p:nvPr/>
        </p:nvSpPr>
        <p:spPr>
          <a:xfrm>
            <a:off x="571500" y="2628900"/>
            <a:ext cx="87545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181350" y="2876550"/>
            <a:ext cx="2428875" cy="533400"/>
          </a:xfrm>
          <a:prstGeom prst="roundRect">
            <a:avLst>
              <a:gd name="adj" fmla="val 14286"/>
            </a:avLst>
          </a:prstGeom>
          <a:solidFill>
            <a:srgbClr val="E7F1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6275" y="3701653"/>
            <a:ext cx="15382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430" dirty="0"/>
          </a:p>
        </p:txBody>
      </p:sp>
      <p:sp>
        <p:nvSpPr>
          <p:cNvPr id="33" name="Text 31"/>
          <p:cNvSpPr/>
          <p:nvPr/>
        </p:nvSpPr>
        <p:spPr>
          <a:xfrm>
            <a:off x="3286125" y="3643313"/>
            <a:ext cx="20056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430" dirty="0"/>
          </a:p>
        </p:txBody>
      </p:sp>
      <p:sp>
        <p:nvSpPr>
          <p:cNvPr id="34" name="Text 32"/>
          <p:cNvSpPr/>
          <p:nvPr/>
        </p:nvSpPr>
        <p:spPr>
          <a:xfrm>
            <a:off x="3286125" y="3869531"/>
            <a:ext cx="10039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430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40B0FE03-FC41-4E4F-824A-F9C3F8313F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525" y="2876550"/>
            <a:ext cx="1244664" cy="65722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B47CCA3-1C3C-4D66-83C5-E07CC50E78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2793" y="2856310"/>
            <a:ext cx="1225613" cy="639748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F60F04A3-1D22-49D8-B377-BFB08DA7F5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4368" y="2865834"/>
            <a:ext cx="1174810" cy="657225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A74326D6-9932-432C-9C59-BA7322DFD3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5624" y="2802731"/>
            <a:ext cx="1168460" cy="708002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C5DF9369-E578-4B04-BA42-79A6AFEE50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6420" y="2802731"/>
            <a:ext cx="1168460" cy="6520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0" y="447675"/>
            <a:ext cx="266700" cy="38100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523875"/>
            <a:ext cx="2288322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PRESENTATION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571500" y="704850"/>
            <a:ext cx="3887309" cy="461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 Analysis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7620000" y="4752975"/>
            <a:ext cx="646383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 / 16</a:t>
            </a:r>
            <a:endParaRPr lang="en-US" sz="1130" dirty="0"/>
          </a:p>
        </p:txBody>
      </p:sp>
      <p:sp>
        <p:nvSpPr>
          <p:cNvPr id="8" name="Text 6"/>
          <p:cNvSpPr/>
          <p:nvPr/>
        </p:nvSpPr>
        <p:spPr>
          <a:xfrm>
            <a:off x="571500" y="1300163"/>
            <a:ext cx="494117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Product Dashboard helps identify: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571500" y="1752600"/>
            <a:ext cx="2428875" cy="904875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76275" y="184785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1" name="Text 9"/>
          <p:cNvSpPr/>
          <p:nvPr/>
        </p:nvSpPr>
        <p:spPr>
          <a:xfrm>
            <a:off x="676275" y="1895475"/>
            <a:ext cx="274327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9650" y="1838325"/>
            <a:ext cx="1508901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Top-selling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009650" y="2072953"/>
            <a:ext cx="1345704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products.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3181350" y="1752600"/>
            <a:ext cx="2428875" cy="904875"/>
          </a:xfrm>
          <a:prstGeom prst="roundRect">
            <a:avLst>
              <a:gd name="adj" fmla="val 8421"/>
            </a:avLst>
          </a:prstGeom>
          <a:solidFill>
            <a:srgbClr val="E7F1FF"/>
          </a:solidFill>
          <a:ln/>
        </p:spPr>
      </p:sp>
      <p:sp>
        <p:nvSpPr>
          <p:cNvPr id="15" name="Shape 13"/>
          <p:cNvSpPr/>
          <p:nvPr/>
        </p:nvSpPr>
        <p:spPr>
          <a:xfrm>
            <a:off x="3286125" y="184785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6" name="Text 14"/>
          <p:cNvSpPr/>
          <p:nvPr/>
        </p:nvSpPr>
        <p:spPr>
          <a:xfrm>
            <a:off x="3286125" y="1895475"/>
            <a:ext cx="30557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19500" y="1838325"/>
            <a:ext cx="1902529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Products with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619500" y="2072953"/>
            <a:ext cx="2410889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higher quantities.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5791200" y="1752600"/>
            <a:ext cx="2428875" cy="904875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895975" y="184785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21" name="Text 19"/>
          <p:cNvSpPr/>
          <p:nvPr/>
        </p:nvSpPr>
        <p:spPr>
          <a:xfrm>
            <a:off x="5895975" y="1895475"/>
            <a:ext cx="302768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29350" y="1838325"/>
            <a:ext cx="2124544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Top-performing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229350" y="2072953"/>
            <a:ext cx="105858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brands.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571500" y="2876550"/>
            <a:ext cx="2428875" cy="904875"/>
          </a:xfrm>
          <a:prstGeom prst="roundRect">
            <a:avLst>
              <a:gd name="adj" fmla="val 8421"/>
            </a:avLst>
          </a:prstGeom>
          <a:solidFill>
            <a:srgbClr val="E7F1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76275" y="29718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275" y="3019425"/>
            <a:ext cx="30808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9650" y="2962275"/>
            <a:ext cx="231744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Cities generating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009650" y="3196903"/>
            <a:ext cx="1725982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higher sales.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3181350" y="2876550"/>
            <a:ext cx="2428875" cy="904875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86125" y="29718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31" name="Text 29"/>
          <p:cNvSpPr/>
          <p:nvPr/>
        </p:nvSpPr>
        <p:spPr>
          <a:xfrm>
            <a:off x="3286125" y="3019425"/>
            <a:ext cx="30363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19500" y="2962275"/>
            <a:ext cx="132422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Customer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3619500" y="3196903"/>
            <a:ext cx="1230489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payment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3619500" y="3431530"/>
            <a:ext cx="1299173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methods.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5791200" y="2876550"/>
            <a:ext cx="2428875" cy="904875"/>
          </a:xfrm>
          <a:prstGeom prst="roundRect">
            <a:avLst>
              <a:gd name="adj" fmla="val 8421"/>
            </a:avLst>
          </a:prstGeom>
          <a:solidFill>
            <a:srgbClr val="E7F1FF"/>
          </a:solidFill>
          <a:ln/>
        </p:spPr>
      </p:sp>
      <p:sp>
        <p:nvSpPr>
          <p:cNvPr id="36" name="Shape 34"/>
          <p:cNvSpPr/>
          <p:nvPr/>
        </p:nvSpPr>
        <p:spPr>
          <a:xfrm>
            <a:off x="5895975" y="29718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37" name="Text 35"/>
          <p:cNvSpPr/>
          <p:nvPr/>
        </p:nvSpPr>
        <p:spPr>
          <a:xfrm>
            <a:off x="5895975" y="3019425"/>
            <a:ext cx="310701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29350" y="2962275"/>
            <a:ext cx="227932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Returned orders.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571500" y="4086225"/>
            <a:ext cx="7800975" cy="400050"/>
          </a:xfrm>
          <a:prstGeom prst="roundRect">
            <a:avLst>
              <a:gd name="adj" fmla="val 19048"/>
            </a:avLst>
          </a:prstGeom>
          <a:solidFill>
            <a:srgbClr val="0D2340"/>
          </a:solidFill>
          <a:ln/>
        </p:spPr>
      </p:sp>
      <p:sp>
        <p:nvSpPr>
          <p:cNvPr id="40" name="Text 38"/>
          <p:cNvSpPr/>
          <p:nvPr/>
        </p:nvSpPr>
        <p:spPr>
          <a:xfrm>
            <a:off x="733425" y="4216003"/>
            <a:ext cx="860407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This helps businesses understand product demand and performance.</a:t>
            </a:r>
            <a:endParaRPr lang="en-US" sz="15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>
            <a:extLst>
              <a:ext uri="{FF2B5EF4-FFF2-40B4-BE49-F238E27FC236}">
                <a16:creationId xmlns:a16="http://schemas.microsoft.com/office/drawing/2014/main" id="{A025B85A-E7BF-417A-8AD1-E48C113CE3A6}"/>
              </a:ext>
            </a:extLst>
          </p:cNvPr>
          <p:cNvSpPr/>
          <p:nvPr/>
        </p:nvSpPr>
        <p:spPr>
          <a:xfrm>
            <a:off x="-5080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1DFDE7-E403-49FA-90C1-0628A78C7962}"/>
              </a:ext>
            </a:extLst>
          </p:cNvPr>
          <p:cNvSpPr txBox="1"/>
          <p:nvPr/>
        </p:nvSpPr>
        <p:spPr>
          <a:xfrm>
            <a:off x="368300" y="304800"/>
            <a:ext cx="48831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Product performance</a:t>
            </a:r>
            <a:endParaRPr lang="en-IN" sz="2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1A4287-5D73-4CD5-8F6F-1E834576D462}"/>
              </a:ext>
            </a:extLst>
          </p:cNvPr>
          <p:cNvSpPr txBox="1"/>
          <p:nvPr/>
        </p:nvSpPr>
        <p:spPr>
          <a:xfrm>
            <a:off x="654050" y="990600"/>
            <a:ext cx="4883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Which product generated the highest sales? 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E3B893-FEC6-41E6-8626-036F1DB013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063" y="1482155"/>
            <a:ext cx="2413124" cy="207655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171B711-0F76-4180-B2B0-5617FD042EBB}"/>
              </a:ext>
            </a:extLst>
          </p:cNvPr>
          <p:cNvSpPr txBox="1"/>
          <p:nvPr/>
        </p:nvSpPr>
        <p:spPr>
          <a:xfrm>
            <a:off x="5697162" y="3998847"/>
            <a:ext cx="931553" cy="1721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A4758E7C-0B5B-435D-A04F-28147A776A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1650" y="1643271"/>
            <a:ext cx="4127500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column chart compares the sales of different products.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product with the tallest column has generated the highest sales.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helps us identify the best-performing product based on sales.</a:t>
            </a:r>
            <a:endParaRPr kumimoji="0" lang="en-US" altLang="en-US" sz="7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43645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>
            <a:extLst>
              <a:ext uri="{FF2B5EF4-FFF2-40B4-BE49-F238E27FC236}">
                <a16:creationId xmlns:a16="http://schemas.microsoft.com/office/drawing/2014/main" id="{6840B305-0942-426B-816C-4C2508B6B9B0}"/>
              </a:ext>
            </a:extLst>
          </p:cNvPr>
          <p:cNvSpPr/>
          <p:nvPr/>
        </p:nvSpPr>
        <p:spPr>
          <a:xfrm>
            <a:off x="0" y="-7257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D288E1-1FDA-4B16-9318-643CC57D6819}"/>
              </a:ext>
            </a:extLst>
          </p:cNvPr>
          <p:cNvSpPr txBox="1"/>
          <p:nvPr/>
        </p:nvSpPr>
        <p:spPr>
          <a:xfrm>
            <a:off x="666750" y="565150"/>
            <a:ext cx="524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Which product sold the highest quantity?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638EA5-CC32-46EB-B567-8739DE4A1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157" y="1349324"/>
            <a:ext cx="2635385" cy="19749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6CD043-2D9D-425C-B01B-FE61A766D67E}"/>
              </a:ext>
            </a:extLst>
          </p:cNvPr>
          <p:cNvSpPr txBox="1"/>
          <p:nvPr/>
        </p:nvSpPr>
        <p:spPr>
          <a:xfrm>
            <a:off x="4572000" y="1289050"/>
            <a:ext cx="349885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This bar chart shows the quantity sold for different products.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The product with the longest bar represents the highest quantity sold.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It helps us identify which product has the highest demand.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87352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54389D-7F6D-44AB-892F-333EBD20409C}"/>
              </a:ext>
            </a:extLst>
          </p:cNvPr>
          <p:cNvSpPr txBox="1"/>
          <p:nvPr/>
        </p:nvSpPr>
        <p:spPr>
          <a:xfrm>
            <a:off x="723900" y="609600"/>
            <a:ext cx="422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Which city generates the highest sales?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E2DC1E-02FF-4A9E-B776-03226F8BF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176" y="1482688"/>
            <a:ext cx="2701974" cy="22320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294866-5E12-48DD-BF6F-9FB5B1871960}"/>
              </a:ext>
            </a:extLst>
          </p:cNvPr>
          <p:cNvSpPr txBox="1"/>
          <p:nvPr/>
        </p:nvSpPr>
        <p:spPr>
          <a:xfrm>
            <a:off x="4257724" y="1638300"/>
            <a:ext cx="37211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</a:t>
            </a:r>
            <a:r>
              <a:rPr lang="en-US" dirty="0" err="1"/>
              <a:t>treemap</a:t>
            </a:r>
            <a:r>
              <a:rPr lang="en-US" dirty="0"/>
              <a:t> shows sales by city. The largest rectangle represents the city with the highest sales.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It helps us quickly compare the contribution of different cities to total sales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46357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D884DE8-85DF-4DB6-AB49-58107DA4CFBF}"/>
              </a:ext>
            </a:extLst>
          </p:cNvPr>
          <p:cNvSpPr txBox="1"/>
          <p:nvPr/>
        </p:nvSpPr>
        <p:spPr>
          <a:xfrm flipH="1">
            <a:off x="515619" y="787916"/>
            <a:ext cx="5142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Which brand generates the highest sales?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766D46-E47E-428E-BA13-9F166189F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2" y="1543006"/>
            <a:ext cx="2197148" cy="20129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C94778-143B-468F-AEFC-C77CDC39277C}"/>
              </a:ext>
            </a:extLst>
          </p:cNvPr>
          <p:cNvSpPr txBox="1"/>
          <p:nvPr/>
        </p:nvSpPr>
        <p:spPr>
          <a:xfrm>
            <a:off x="3778250" y="1672340"/>
            <a:ext cx="38925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This pie chart shows the sales contribution of different brands.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The largest slice represents the brand with the highest sales.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It helps us understand the sales share of each brand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67990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3EC40C-8121-4A92-885C-048F6392BEA8}"/>
              </a:ext>
            </a:extLst>
          </p:cNvPr>
          <p:cNvSpPr txBox="1"/>
          <p:nvPr/>
        </p:nvSpPr>
        <p:spPr>
          <a:xfrm>
            <a:off x="431800" y="742950"/>
            <a:ext cx="566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Which payment method is used most frequently?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F846FD-40C2-4B76-B4D8-18823B1839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16" y="1539830"/>
            <a:ext cx="2292468" cy="17463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D35FB3-9304-4804-A21F-1927B98A00E1}"/>
              </a:ext>
            </a:extLst>
          </p:cNvPr>
          <p:cNvSpPr txBox="1"/>
          <p:nvPr/>
        </p:nvSpPr>
        <p:spPr>
          <a:xfrm>
            <a:off x="3721100" y="1638300"/>
            <a:ext cx="33909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donut chart shows the frequency of different payment methods.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largest section represents the payment method used most frequently.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helps us understand customer payment preferences.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78779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0" y="447675"/>
            <a:ext cx="266700" cy="38100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523875"/>
            <a:ext cx="2288322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PRESENTATION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571500" y="704850"/>
            <a:ext cx="2767466" cy="461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KPI Analysis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7620000" y="4752975"/>
            <a:ext cx="61223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 / 16</a:t>
            </a:r>
            <a:endParaRPr lang="en-US" sz="1130" dirty="0"/>
          </a:p>
        </p:txBody>
      </p:sp>
      <p:sp>
        <p:nvSpPr>
          <p:cNvPr id="8" name="Shape 6"/>
          <p:cNvSpPr/>
          <p:nvPr/>
        </p:nvSpPr>
        <p:spPr>
          <a:xfrm>
            <a:off x="571500" y="1362075"/>
            <a:ext cx="3762375" cy="514350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57225" y="14954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1677E8"/>
          </a:solidFill>
          <a:ln/>
        </p:spPr>
      </p:sp>
      <p:sp>
        <p:nvSpPr>
          <p:cNvPr id="10" name="Text 8"/>
          <p:cNvSpPr/>
          <p:nvPr/>
        </p:nvSpPr>
        <p:spPr>
          <a:xfrm>
            <a:off x="657225" y="1487091"/>
            <a:ext cx="26078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130" dirty="0"/>
          </a:p>
        </p:txBody>
      </p:sp>
      <p:sp>
        <p:nvSpPr>
          <p:cNvPr id="11" name="Text 9"/>
          <p:cNvSpPr/>
          <p:nvPr/>
        </p:nvSpPr>
        <p:spPr>
          <a:xfrm>
            <a:off x="990600" y="1425922"/>
            <a:ext cx="339326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Total Sales – Measures overall</a:t>
            </a:r>
            <a:endParaRPr lang="en-US" sz="1430" dirty="0"/>
          </a:p>
        </p:txBody>
      </p:sp>
      <p:sp>
        <p:nvSpPr>
          <p:cNvPr id="12" name="Text 10"/>
          <p:cNvSpPr/>
          <p:nvPr/>
        </p:nvSpPr>
        <p:spPr>
          <a:xfrm>
            <a:off x="990600" y="1643063"/>
            <a:ext cx="22459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revenue generated.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571500" y="1990725"/>
            <a:ext cx="3762375" cy="514350"/>
          </a:xfrm>
          <a:prstGeom prst="roundRect">
            <a:avLst>
              <a:gd name="adj" fmla="val 12963"/>
            </a:avLst>
          </a:prstGeom>
          <a:solidFill>
            <a:srgbClr val="E7F1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57225" y="21240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1677E8"/>
          </a:solidFill>
          <a:ln/>
        </p:spPr>
      </p:sp>
      <p:sp>
        <p:nvSpPr>
          <p:cNvPr id="15" name="Text 13"/>
          <p:cNvSpPr/>
          <p:nvPr/>
        </p:nvSpPr>
        <p:spPr>
          <a:xfrm>
            <a:off x="657225" y="2115741"/>
            <a:ext cx="289999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130" dirty="0"/>
          </a:p>
        </p:txBody>
      </p:sp>
      <p:sp>
        <p:nvSpPr>
          <p:cNvPr id="16" name="Text 14"/>
          <p:cNvSpPr/>
          <p:nvPr/>
        </p:nvSpPr>
        <p:spPr>
          <a:xfrm>
            <a:off x="990600" y="2054572"/>
            <a:ext cx="409384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Total Orders – Measures the number</a:t>
            </a:r>
            <a:endParaRPr lang="en-US" sz="1430" dirty="0"/>
          </a:p>
        </p:txBody>
      </p:sp>
      <p:sp>
        <p:nvSpPr>
          <p:cNvPr id="17" name="Text 15"/>
          <p:cNvSpPr/>
          <p:nvPr/>
        </p:nvSpPr>
        <p:spPr>
          <a:xfrm>
            <a:off x="990600" y="2271713"/>
            <a:ext cx="1129978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of orders.</a:t>
            </a:r>
            <a:endParaRPr lang="en-US" sz="1430" dirty="0"/>
          </a:p>
        </p:txBody>
      </p:sp>
      <p:sp>
        <p:nvSpPr>
          <p:cNvPr id="18" name="Shape 16"/>
          <p:cNvSpPr/>
          <p:nvPr/>
        </p:nvSpPr>
        <p:spPr>
          <a:xfrm>
            <a:off x="571500" y="2619375"/>
            <a:ext cx="3762375" cy="514350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657225" y="27527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1677E8"/>
          </a:solidFill>
          <a:ln/>
        </p:spPr>
      </p:sp>
      <p:sp>
        <p:nvSpPr>
          <p:cNvPr id="20" name="Text 18"/>
          <p:cNvSpPr/>
          <p:nvPr/>
        </p:nvSpPr>
        <p:spPr>
          <a:xfrm>
            <a:off x="657225" y="2744391"/>
            <a:ext cx="287387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130" dirty="0"/>
          </a:p>
        </p:txBody>
      </p:sp>
      <p:sp>
        <p:nvSpPr>
          <p:cNvPr id="21" name="Text 19"/>
          <p:cNvSpPr/>
          <p:nvPr/>
        </p:nvSpPr>
        <p:spPr>
          <a:xfrm>
            <a:off x="990600" y="2683222"/>
            <a:ext cx="417336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Total Quantity – Measures total units</a:t>
            </a:r>
            <a:endParaRPr lang="en-US" sz="1430" dirty="0"/>
          </a:p>
        </p:txBody>
      </p:sp>
      <p:sp>
        <p:nvSpPr>
          <p:cNvPr id="22" name="Text 20"/>
          <p:cNvSpPr/>
          <p:nvPr/>
        </p:nvSpPr>
        <p:spPr>
          <a:xfrm>
            <a:off x="990600" y="2900363"/>
            <a:ext cx="599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sold.</a:t>
            </a:r>
            <a:endParaRPr lang="en-US" sz="1430" dirty="0"/>
          </a:p>
        </p:txBody>
      </p:sp>
      <p:sp>
        <p:nvSpPr>
          <p:cNvPr id="23" name="Shape 21"/>
          <p:cNvSpPr/>
          <p:nvPr/>
        </p:nvSpPr>
        <p:spPr>
          <a:xfrm>
            <a:off x="571500" y="3248025"/>
            <a:ext cx="3762375" cy="514350"/>
          </a:xfrm>
          <a:prstGeom prst="roundRect">
            <a:avLst>
              <a:gd name="adj" fmla="val 12963"/>
            </a:avLst>
          </a:prstGeom>
          <a:solidFill>
            <a:srgbClr val="E7F1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57225" y="33813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1677E8"/>
          </a:solidFill>
          <a:ln/>
        </p:spPr>
      </p:sp>
      <p:sp>
        <p:nvSpPr>
          <p:cNvPr id="25" name="Text 23"/>
          <p:cNvSpPr/>
          <p:nvPr/>
        </p:nvSpPr>
        <p:spPr>
          <a:xfrm>
            <a:off x="657225" y="3373041"/>
            <a:ext cx="292418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130" dirty="0"/>
          </a:p>
        </p:txBody>
      </p:sp>
      <p:sp>
        <p:nvSpPr>
          <p:cNvPr id="26" name="Text 24"/>
          <p:cNvSpPr/>
          <p:nvPr/>
        </p:nvSpPr>
        <p:spPr>
          <a:xfrm>
            <a:off x="990600" y="3311872"/>
            <a:ext cx="363859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Average Order Value – Measures</a:t>
            </a:r>
            <a:endParaRPr lang="en-US" sz="1430" dirty="0"/>
          </a:p>
        </p:txBody>
      </p:sp>
      <p:sp>
        <p:nvSpPr>
          <p:cNvPr id="27" name="Text 25"/>
          <p:cNvSpPr/>
          <p:nvPr/>
        </p:nvSpPr>
        <p:spPr>
          <a:xfrm>
            <a:off x="990600" y="3529013"/>
            <a:ext cx="2724708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average value per order.</a:t>
            </a:r>
            <a:endParaRPr lang="en-US" sz="1430" dirty="0"/>
          </a:p>
        </p:txBody>
      </p:sp>
      <p:sp>
        <p:nvSpPr>
          <p:cNvPr id="28" name="Shape 26"/>
          <p:cNvSpPr/>
          <p:nvPr/>
        </p:nvSpPr>
        <p:spPr>
          <a:xfrm>
            <a:off x="571500" y="3876675"/>
            <a:ext cx="3762375" cy="514350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657225" y="40100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1677E8"/>
          </a:solidFill>
          <a:ln/>
        </p:spPr>
      </p:sp>
      <p:sp>
        <p:nvSpPr>
          <p:cNvPr id="30" name="Text 28"/>
          <p:cNvSpPr/>
          <p:nvPr/>
        </p:nvSpPr>
        <p:spPr>
          <a:xfrm>
            <a:off x="657225" y="4001691"/>
            <a:ext cx="288258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130" dirty="0"/>
          </a:p>
        </p:txBody>
      </p:sp>
      <p:sp>
        <p:nvSpPr>
          <p:cNvPr id="31" name="Text 29"/>
          <p:cNvSpPr/>
          <p:nvPr/>
        </p:nvSpPr>
        <p:spPr>
          <a:xfrm>
            <a:off x="990600" y="3940522"/>
            <a:ext cx="407875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Cancelled Orders – Tracks cancelled</a:t>
            </a:r>
            <a:endParaRPr lang="en-US" sz="1430" dirty="0"/>
          </a:p>
        </p:txBody>
      </p:sp>
      <p:sp>
        <p:nvSpPr>
          <p:cNvPr id="32" name="Text 30"/>
          <p:cNvSpPr/>
          <p:nvPr/>
        </p:nvSpPr>
        <p:spPr>
          <a:xfrm>
            <a:off x="990600" y="4157663"/>
            <a:ext cx="8524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orders.</a:t>
            </a:r>
            <a:endParaRPr lang="en-US" sz="1430" dirty="0"/>
          </a:p>
        </p:txBody>
      </p:sp>
      <p:sp>
        <p:nvSpPr>
          <p:cNvPr id="33" name="Shape 31"/>
          <p:cNvSpPr/>
          <p:nvPr/>
        </p:nvSpPr>
        <p:spPr>
          <a:xfrm>
            <a:off x="4572000" y="1362075"/>
            <a:ext cx="3762375" cy="514350"/>
          </a:xfrm>
          <a:prstGeom prst="roundRect">
            <a:avLst>
              <a:gd name="adj" fmla="val 12963"/>
            </a:avLst>
          </a:prstGeom>
          <a:solidFill>
            <a:srgbClr val="E7F1FF"/>
          </a:solidFill>
          <a:ln/>
        </p:spPr>
      </p:sp>
      <p:sp>
        <p:nvSpPr>
          <p:cNvPr id="34" name="Shape 32"/>
          <p:cNvSpPr/>
          <p:nvPr/>
        </p:nvSpPr>
        <p:spPr>
          <a:xfrm>
            <a:off x="4657725" y="14954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1677E8"/>
          </a:solidFill>
          <a:ln/>
        </p:spPr>
      </p:sp>
      <p:sp>
        <p:nvSpPr>
          <p:cNvPr id="35" name="Text 33"/>
          <p:cNvSpPr/>
          <p:nvPr/>
        </p:nvSpPr>
        <p:spPr>
          <a:xfrm>
            <a:off x="4657725" y="1487091"/>
            <a:ext cx="294836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1130" dirty="0"/>
          </a:p>
        </p:txBody>
      </p:sp>
      <p:sp>
        <p:nvSpPr>
          <p:cNvPr id="36" name="Text 34"/>
          <p:cNvSpPr/>
          <p:nvPr/>
        </p:nvSpPr>
        <p:spPr>
          <a:xfrm>
            <a:off x="4991100" y="1425922"/>
            <a:ext cx="344357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Total Products – Measures the</a:t>
            </a:r>
            <a:endParaRPr lang="en-US" sz="1430" dirty="0"/>
          </a:p>
        </p:txBody>
      </p:sp>
      <p:sp>
        <p:nvSpPr>
          <p:cNvPr id="37" name="Text 35"/>
          <p:cNvSpPr/>
          <p:nvPr/>
        </p:nvSpPr>
        <p:spPr>
          <a:xfrm>
            <a:off x="4991100" y="1643063"/>
            <a:ext cx="234259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number of products.</a:t>
            </a:r>
            <a:endParaRPr lang="en-US" sz="1430" dirty="0"/>
          </a:p>
        </p:txBody>
      </p:sp>
      <p:sp>
        <p:nvSpPr>
          <p:cNvPr id="38" name="Shape 36"/>
          <p:cNvSpPr/>
          <p:nvPr/>
        </p:nvSpPr>
        <p:spPr>
          <a:xfrm>
            <a:off x="4572000" y="1990725"/>
            <a:ext cx="3762375" cy="514350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4657725" y="21240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1677E8"/>
          </a:solidFill>
          <a:ln/>
        </p:spPr>
      </p:sp>
      <p:sp>
        <p:nvSpPr>
          <p:cNvPr id="40" name="Text 38"/>
          <p:cNvSpPr/>
          <p:nvPr/>
        </p:nvSpPr>
        <p:spPr>
          <a:xfrm>
            <a:off x="4657725" y="2115741"/>
            <a:ext cx="278487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1130" dirty="0"/>
          </a:p>
        </p:txBody>
      </p:sp>
      <p:sp>
        <p:nvSpPr>
          <p:cNvPr id="41" name="Text 39"/>
          <p:cNvSpPr/>
          <p:nvPr/>
        </p:nvSpPr>
        <p:spPr>
          <a:xfrm>
            <a:off x="4991100" y="2054572"/>
            <a:ext cx="388092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Product Sales – Measures product</a:t>
            </a:r>
            <a:endParaRPr lang="en-US" sz="1430" dirty="0"/>
          </a:p>
        </p:txBody>
      </p:sp>
      <p:sp>
        <p:nvSpPr>
          <p:cNvPr id="42" name="Text 40"/>
          <p:cNvSpPr/>
          <p:nvPr/>
        </p:nvSpPr>
        <p:spPr>
          <a:xfrm>
            <a:off x="4991100" y="2271713"/>
            <a:ext cx="71332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sales.</a:t>
            </a:r>
            <a:endParaRPr lang="en-US" sz="1430" dirty="0"/>
          </a:p>
        </p:txBody>
      </p:sp>
      <p:sp>
        <p:nvSpPr>
          <p:cNvPr id="43" name="Shape 41"/>
          <p:cNvSpPr/>
          <p:nvPr/>
        </p:nvSpPr>
        <p:spPr>
          <a:xfrm>
            <a:off x="4572000" y="2619375"/>
            <a:ext cx="3762375" cy="514350"/>
          </a:xfrm>
          <a:prstGeom prst="roundRect">
            <a:avLst>
              <a:gd name="adj" fmla="val 12963"/>
            </a:avLst>
          </a:prstGeom>
          <a:solidFill>
            <a:srgbClr val="E7F1FF"/>
          </a:solidFill>
          <a:ln/>
        </p:spPr>
      </p:sp>
      <p:sp>
        <p:nvSpPr>
          <p:cNvPr id="44" name="Shape 42"/>
          <p:cNvSpPr/>
          <p:nvPr/>
        </p:nvSpPr>
        <p:spPr>
          <a:xfrm>
            <a:off x="4657725" y="27527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1677E8"/>
          </a:solidFill>
          <a:ln/>
        </p:spPr>
      </p:sp>
      <p:sp>
        <p:nvSpPr>
          <p:cNvPr id="45" name="Text 43"/>
          <p:cNvSpPr/>
          <p:nvPr/>
        </p:nvSpPr>
        <p:spPr>
          <a:xfrm>
            <a:off x="4657725" y="2744391"/>
            <a:ext cx="293191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1130" dirty="0"/>
          </a:p>
        </p:txBody>
      </p:sp>
      <p:sp>
        <p:nvSpPr>
          <p:cNvPr id="46" name="Text 44"/>
          <p:cNvSpPr/>
          <p:nvPr/>
        </p:nvSpPr>
        <p:spPr>
          <a:xfrm>
            <a:off x="4991100" y="2683222"/>
            <a:ext cx="3932099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Product Quantity – Measures units</a:t>
            </a:r>
            <a:endParaRPr lang="en-US" sz="1430" dirty="0"/>
          </a:p>
        </p:txBody>
      </p:sp>
      <p:sp>
        <p:nvSpPr>
          <p:cNvPr id="47" name="Text 45"/>
          <p:cNvSpPr/>
          <p:nvPr/>
        </p:nvSpPr>
        <p:spPr>
          <a:xfrm>
            <a:off x="4991100" y="2900363"/>
            <a:ext cx="599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sold.</a:t>
            </a:r>
            <a:endParaRPr lang="en-US" sz="1430" dirty="0"/>
          </a:p>
        </p:txBody>
      </p:sp>
      <p:sp>
        <p:nvSpPr>
          <p:cNvPr id="48" name="Shape 46"/>
          <p:cNvSpPr/>
          <p:nvPr/>
        </p:nvSpPr>
        <p:spPr>
          <a:xfrm>
            <a:off x="4572000" y="3248025"/>
            <a:ext cx="3762375" cy="514350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4657725" y="33813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1677E8"/>
          </a:solidFill>
          <a:ln/>
        </p:spPr>
      </p:sp>
      <p:sp>
        <p:nvSpPr>
          <p:cNvPr id="50" name="Text 48"/>
          <p:cNvSpPr/>
          <p:nvPr/>
        </p:nvSpPr>
        <p:spPr>
          <a:xfrm>
            <a:off x="4657725" y="3373041"/>
            <a:ext cx="294836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</a:t>
            </a:r>
            <a:endParaRPr lang="en-US" sz="1130" dirty="0"/>
          </a:p>
        </p:txBody>
      </p:sp>
      <p:sp>
        <p:nvSpPr>
          <p:cNvPr id="51" name="Text 49"/>
          <p:cNvSpPr/>
          <p:nvPr/>
        </p:nvSpPr>
        <p:spPr>
          <a:xfrm>
            <a:off x="4991100" y="3311872"/>
            <a:ext cx="385451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Average Product Price – Measures</a:t>
            </a:r>
            <a:endParaRPr lang="en-US" sz="1430" dirty="0"/>
          </a:p>
        </p:txBody>
      </p:sp>
      <p:sp>
        <p:nvSpPr>
          <p:cNvPr id="52" name="Text 50"/>
          <p:cNvSpPr/>
          <p:nvPr/>
        </p:nvSpPr>
        <p:spPr>
          <a:xfrm>
            <a:off x="4991100" y="3529013"/>
            <a:ext cx="257302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average product price.</a:t>
            </a:r>
            <a:endParaRPr lang="en-US" sz="1430" dirty="0"/>
          </a:p>
        </p:txBody>
      </p:sp>
      <p:sp>
        <p:nvSpPr>
          <p:cNvPr id="53" name="Shape 51"/>
          <p:cNvSpPr/>
          <p:nvPr/>
        </p:nvSpPr>
        <p:spPr>
          <a:xfrm>
            <a:off x="4572000" y="3876675"/>
            <a:ext cx="3762375" cy="514350"/>
          </a:xfrm>
          <a:prstGeom prst="roundRect">
            <a:avLst>
              <a:gd name="adj" fmla="val 12963"/>
            </a:avLst>
          </a:prstGeom>
          <a:solidFill>
            <a:srgbClr val="E7F1FF"/>
          </a:solidFill>
          <a:ln/>
        </p:spPr>
      </p:sp>
      <p:sp>
        <p:nvSpPr>
          <p:cNvPr id="54" name="Shape 52"/>
          <p:cNvSpPr/>
          <p:nvPr/>
        </p:nvSpPr>
        <p:spPr>
          <a:xfrm>
            <a:off x="4657725" y="40100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1677E8"/>
          </a:solidFill>
          <a:ln/>
        </p:spPr>
      </p:sp>
      <p:sp>
        <p:nvSpPr>
          <p:cNvPr id="55" name="Text 53"/>
          <p:cNvSpPr/>
          <p:nvPr/>
        </p:nvSpPr>
        <p:spPr>
          <a:xfrm>
            <a:off x="4657725" y="4001691"/>
            <a:ext cx="26078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130" dirty="0"/>
          </a:p>
        </p:txBody>
      </p:sp>
      <p:sp>
        <p:nvSpPr>
          <p:cNvPr id="56" name="Text 54"/>
          <p:cNvSpPr/>
          <p:nvPr/>
        </p:nvSpPr>
        <p:spPr>
          <a:xfrm>
            <a:off x="4991100" y="3940522"/>
            <a:ext cx="39090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Returned Orders – Tracks returned</a:t>
            </a:r>
            <a:endParaRPr lang="en-US" sz="1430" dirty="0"/>
          </a:p>
        </p:txBody>
      </p:sp>
      <p:sp>
        <p:nvSpPr>
          <p:cNvPr id="57" name="Text 55"/>
          <p:cNvSpPr/>
          <p:nvPr/>
        </p:nvSpPr>
        <p:spPr>
          <a:xfrm>
            <a:off x="4991100" y="4157663"/>
            <a:ext cx="8524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orders.</a:t>
            </a:r>
            <a:endParaRPr lang="en-US" sz="143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0" y="447675"/>
            <a:ext cx="266700" cy="38100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523875"/>
            <a:ext cx="2288322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PRESENTATION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571500" y="704850"/>
            <a:ext cx="4616715" cy="461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Interactive Features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7620000" y="4752975"/>
            <a:ext cx="571411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 / 16</a:t>
            </a:r>
            <a:endParaRPr lang="en-US" sz="1130" dirty="0"/>
          </a:p>
        </p:txBody>
      </p:sp>
      <p:sp>
        <p:nvSpPr>
          <p:cNvPr id="8" name="Text 6"/>
          <p:cNvSpPr/>
          <p:nvPr/>
        </p:nvSpPr>
        <p:spPr>
          <a:xfrm>
            <a:off x="571500" y="1300163"/>
            <a:ext cx="553669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dashboard contains interactive slicers.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571500" y="1695450"/>
            <a:ext cx="3667125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76275" y="17907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1" name="Text 9"/>
          <p:cNvSpPr/>
          <p:nvPr/>
        </p:nvSpPr>
        <p:spPr>
          <a:xfrm>
            <a:off x="676275" y="1838325"/>
            <a:ext cx="18745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9650" y="1781175"/>
            <a:ext cx="2343849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7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 Dashboard</a:t>
            </a:r>
            <a:endParaRPr lang="en-US" sz="1730" dirty="0"/>
          </a:p>
        </p:txBody>
      </p:sp>
      <p:sp>
        <p:nvSpPr>
          <p:cNvPr id="13" name="Shape 11"/>
          <p:cNvSpPr/>
          <p:nvPr/>
        </p:nvSpPr>
        <p:spPr>
          <a:xfrm>
            <a:off x="4524375" y="1695450"/>
            <a:ext cx="3762375" cy="1428750"/>
          </a:xfrm>
          <a:prstGeom prst="roundRect">
            <a:avLst>
              <a:gd name="adj" fmla="val 5333"/>
            </a:avLst>
          </a:prstGeom>
          <a:solidFill>
            <a:srgbClr val="E7F1FF"/>
          </a:solidFill>
          <a:ln/>
        </p:spPr>
      </p:sp>
      <p:sp>
        <p:nvSpPr>
          <p:cNvPr id="14" name="Shape 12"/>
          <p:cNvSpPr/>
          <p:nvPr/>
        </p:nvSpPr>
        <p:spPr>
          <a:xfrm>
            <a:off x="4629150" y="17907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5" name="Text 13"/>
          <p:cNvSpPr/>
          <p:nvPr/>
        </p:nvSpPr>
        <p:spPr>
          <a:xfrm>
            <a:off x="4629150" y="1838325"/>
            <a:ext cx="18368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62525" y="1781175"/>
            <a:ext cx="2720645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73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 Dashboard</a:t>
            </a:r>
            <a:endParaRPr lang="en-US" sz="1730" dirty="0"/>
          </a:p>
        </p:txBody>
      </p:sp>
      <p:sp>
        <p:nvSpPr>
          <p:cNvPr id="17" name="Shape 15"/>
          <p:cNvSpPr/>
          <p:nvPr/>
        </p:nvSpPr>
        <p:spPr>
          <a:xfrm>
            <a:off x="781050" y="2352675"/>
            <a:ext cx="962025" cy="371475"/>
          </a:xfrm>
          <a:prstGeom prst="roundRect">
            <a:avLst>
              <a:gd name="adj" fmla="val 23077"/>
            </a:avLst>
          </a:prstGeom>
          <a:solidFill>
            <a:srgbClr val="E7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847725" y="2452688"/>
            <a:ext cx="566284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Year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733925" y="2352675"/>
            <a:ext cx="962025" cy="371475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2452688"/>
            <a:ext cx="566284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Year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885950" y="2352675"/>
            <a:ext cx="962025" cy="371475"/>
          </a:xfrm>
          <a:prstGeom prst="roundRect">
            <a:avLst>
              <a:gd name="adj" fmla="val 23077"/>
            </a:avLst>
          </a:prstGeom>
          <a:solidFill>
            <a:srgbClr val="E7F1FF"/>
          </a:solidFill>
          <a:ln/>
        </p:spPr>
      </p:sp>
      <p:sp>
        <p:nvSpPr>
          <p:cNvPr id="22" name="Text 20"/>
          <p:cNvSpPr/>
          <p:nvPr/>
        </p:nvSpPr>
        <p:spPr>
          <a:xfrm>
            <a:off x="1952625" y="2452688"/>
            <a:ext cx="827961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Month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838825" y="2352675"/>
            <a:ext cx="962025" cy="371475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05500" y="2452688"/>
            <a:ext cx="540358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City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990850" y="2352675"/>
            <a:ext cx="962025" cy="371475"/>
          </a:xfrm>
          <a:prstGeom prst="roundRect">
            <a:avLst>
              <a:gd name="adj" fmla="val 23077"/>
            </a:avLst>
          </a:prstGeom>
          <a:solidFill>
            <a:srgbClr val="E7F1FF"/>
          </a:solidFill>
          <a:ln/>
        </p:spPr>
      </p:sp>
      <p:sp>
        <p:nvSpPr>
          <p:cNvPr id="26" name="Text 24"/>
          <p:cNvSpPr/>
          <p:nvPr/>
        </p:nvSpPr>
        <p:spPr>
          <a:xfrm>
            <a:off x="3057525" y="2452688"/>
            <a:ext cx="74641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Brand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943725" y="2352675"/>
            <a:ext cx="962025" cy="371475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010400" y="2452688"/>
            <a:ext cx="827961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Month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71500" y="3343275"/>
            <a:ext cx="9660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BENEFITS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1500" y="3609975"/>
            <a:ext cx="2428875" cy="504825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6275" y="3739753"/>
            <a:ext cx="253374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Easy data exploration.</a:t>
            </a:r>
            <a:endParaRPr lang="en-US" sz="1430" dirty="0"/>
          </a:p>
        </p:txBody>
      </p:sp>
      <p:sp>
        <p:nvSpPr>
          <p:cNvPr id="32" name="Shape 30"/>
          <p:cNvSpPr/>
          <p:nvPr/>
        </p:nvSpPr>
        <p:spPr>
          <a:xfrm>
            <a:off x="3181350" y="3609975"/>
            <a:ext cx="2428875" cy="504825"/>
          </a:xfrm>
          <a:prstGeom prst="roundRect">
            <a:avLst>
              <a:gd name="adj" fmla="val 15094"/>
            </a:avLst>
          </a:prstGeom>
          <a:solidFill>
            <a:srgbClr val="E7F1FF"/>
          </a:solidFill>
          <a:ln/>
        </p:spPr>
      </p:sp>
      <p:sp>
        <p:nvSpPr>
          <p:cNvPr id="33" name="Text 31"/>
          <p:cNvSpPr/>
          <p:nvPr/>
        </p:nvSpPr>
        <p:spPr>
          <a:xfrm>
            <a:off x="3286125" y="3739753"/>
            <a:ext cx="213528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Quick comparison.</a:t>
            </a:r>
            <a:endParaRPr lang="en-US" sz="1430" dirty="0"/>
          </a:p>
        </p:txBody>
      </p:sp>
      <p:sp>
        <p:nvSpPr>
          <p:cNvPr id="34" name="Shape 32"/>
          <p:cNvSpPr/>
          <p:nvPr/>
        </p:nvSpPr>
        <p:spPr>
          <a:xfrm>
            <a:off x="5791200" y="3609975"/>
            <a:ext cx="2428875" cy="504825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5895975" y="3739753"/>
            <a:ext cx="206369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Dynamic analysis.</a:t>
            </a:r>
            <a:endParaRPr lang="en-US" sz="1430" dirty="0"/>
          </a:p>
        </p:txBody>
      </p:sp>
      <p:sp>
        <p:nvSpPr>
          <p:cNvPr id="36" name="Shape 34"/>
          <p:cNvSpPr/>
          <p:nvPr/>
        </p:nvSpPr>
        <p:spPr>
          <a:xfrm>
            <a:off x="1876425" y="4171950"/>
            <a:ext cx="2428875" cy="504825"/>
          </a:xfrm>
          <a:prstGeom prst="roundRect">
            <a:avLst>
              <a:gd name="adj" fmla="val 15094"/>
            </a:avLst>
          </a:prstGeom>
          <a:solidFill>
            <a:srgbClr val="E7F1FF"/>
          </a:solidFill>
          <a:ln/>
        </p:spPr>
      </p:sp>
      <p:sp>
        <p:nvSpPr>
          <p:cNvPr id="37" name="Text 35"/>
          <p:cNvSpPr/>
          <p:nvPr/>
        </p:nvSpPr>
        <p:spPr>
          <a:xfrm>
            <a:off x="1981200" y="4356497"/>
            <a:ext cx="2850661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User-friendly dashboard.</a:t>
            </a:r>
            <a:endParaRPr lang="en-US" sz="1430" dirty="0"/>
          </a:p>
        </p:txBody>
      </p:sp>
      <p:sp>
        <p:nvSpPr>
          <p:cNvPr id="38" name="Shape 36"/>
          <p:cNvSpPr/>
          <p:nvPr/>
        </p:nvSpPr>
        <p:spPr>
          <a:xfrm>
            <a:off x="4486275" y="4171950"/>
            <a:ext cx="2428875" cy="504825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4591050" y="4356497"/>
            <a:ext cx="2739219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3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Faster decision-making.</a:t>
            </a:r>
            <a:endParaRPr lang="en-US" sz="143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0" y="447675"/>
            <a:ext cx="266700" cy="38100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523875"/>
            <a:ext cx="2288322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PRESENTATION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571500" y="704850"/>
            <a:ext cx="2856369" cy="461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Insights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7620000" y="4752975"/>
            <a:ext cx="600626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 / 16</a:t>
            </a:r>
            <a:endParaRPr lang="en-US" sz="1130" dirty="0"/>
          </a:p>
        </p:txBody>
      </p:sp>
      <p:sp>
        <p:nvSpPr>
          <p:cNvPr id="8" name="Shape 6"/>
          <p:cNvSpPr/>
          <p:nvPr/>
        </p:nvSpPr>
        <p:spPr>
          <a:xfrm>
            <a:off x="571500" y="13906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76275" y="14859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0" name="Text 8"/>
          <p:cNvSpPr/>
          <p:nvPr/>
        </p:nvSpPr>
        <p:spPr>
          <a:xfrm>
            <a:off x="676275" y="1533525"/>
            <a:ext cx="274327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9650" y="1476375"/>
            <a:ext cx="185367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Analyze overall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09650" y="1689720"/>
            <a:ext cx="235071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 performance.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181350" y="13906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E7F1FF"/>
          </a:solidFill>
          <a:ln/>
        </p:spPr>
      </p:sp>
      <p:sp>
        <p:nvSpPr>
          <p:cNvPr id="14" name="Shape 12"/>
          <p:cNvSpPr/>
          <p:nvPr/>
        </p:nvSpPr>
        <p:spPr>
          <a:xfrm>
            <a:off x="3286125" y="14859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5" name="Text 13"/>
          <p:cNvSpPr/>
          <p:nvPr/>
        </p:nvSpPr>
        <p:spPr>
          <a:xfrm>
            <a:off x="3286125" y="1533525"/>
            <a:ext cx="30557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19500" y="1476375"/>
            <a:ext cx="207085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Identify monthly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19500" y="1689720"/>
            <a:ext cx="200226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yearly sales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19500" y="1903065"/>
            <a:ext cx="92073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trends.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791200" y="13906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895975" y="14859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21" name="Text 19"/>
          <p:cNvSpPr/>
          <p:nvPr/>
        </p:nvSpPr>
        <p:spPr>
          <a:xfrm>
            <a:off x="5895975" y="1533525"/>
            <a:ext cx="302768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29350" y="1476375"/>
            <a:ext cx="2230279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Compare different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29350" y="1689720"/>
            <a:ext cx="140790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categories.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71500" y="23431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E7F1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76275" y="24384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275" y="2486025"/>
            <a:ext cx="30808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9650" y="2428875"/>
            <a:ext cx="170460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Analyze order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09650" y="2642220"/>
            <a:ext cx="90070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status.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3181350" y="23431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86125" y="24384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31" name="Text 29"/>
          <p:cNvSpPr/>
          <p:nvPr/>
        </p:nvSpPr>
        <p:spPr>
          <a:xfrm>
            <a:off x="3286125" y="2486025"/>
            <a:ext cx="30363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19500" y="2428875"/>
            <a:ext cx="2380610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Identify top-selling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619500" y="2642220"/>
            <a:ext cx="122855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products.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791200" y="23431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E7F1FF"/>
          </a:solidFill>
          <a:ln/>
        </p:spPr>
      </p:sp>
      <p:sp>
        <p:nvSpPr>
          <p:cNvPr id="35" name="Shape 33"/>
          <p:cNvSpPr/>
          <p:nvPr/>
        </p:nvSpPr>
        <p:spPr>
          <a:xfrm>
            <a:off x="5895975" y="24384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36" name="Text 34"/>
          <p:cNvSpPr/>
          <p:nvPr/>
        </p:nvSpPr>
        <p:spPr>
          <a:xfrm>
            <a:off x="5895975" y="2486025"/>
            <a:ext cx="310701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29350" y="2428875"/>
            <a:ext cx="1887051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Compare brand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229350" y="2642220"/>
            <a:ext cx="167732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performance.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571500" y="32956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676275" y="33909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41" name="Text 39"/>
          <p:cNvSpPr/>
          <p:nvPr/>
        </p:nvSpPr>
        <p:spPr>
          <a:xfrm>
            <a:off x="676275" y="3438525"/>
            <a:ext cx="293288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009650" y="3381375"/>
            <a:ext cx="217513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Analyze city-wise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09650" y="3594720"/>
            <a:ext cx="74147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sales.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3181350" y="32956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E7F1FF"/>
          </a:solidFill>
          <a:ln/>
        </p:spPr>
      </p:sp>
      <p:sp>
        <p:nvSpPr>
          <p:cNvPr id="45" name="Shape 43"/>
          <p:cNvSpPr/>
          <p:nvPr/>
        </p:nvSpPr>
        <p:spPr>
          <a:xfrm>
            <a:off x="3286125" y="33909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46" name="Text 44"/>
          <p:cNvSpPr/>
          <p:nvPr/>
        </p:nvSpPr>
        <p:spPr>
          <a:xfrm>
            <a:off x="3286125" y="3438525"/>
            <a:ext cx="30886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619500" y="3381375"/>
            <a:ext cx="1466046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Understand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3619500" y="3594720"/>
            <a:ext cx="2315795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payment methods.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5791200" y="32956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5895975" y="33909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51" name="Text 49"/>
          <p:cNvSpPr/>
          <p:nvPr/>
        </p:nvSpPr>
        <p:spPr>
          <a:xfrm>
            <a:off x="5895975" y="3438525"/>
            <a:ext cx="310701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229350" y="3381375"/>
            <a:ext cx="222805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Monitor cancelled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6229350" y="3594720"/>
            <a:ext cx="162334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returned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6229350" y="3808065"/>
            <a:ext cx="901965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orders.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0" y="447675"/>
            <a:ext cx="266700" cy="38100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523875"/>
            <a:ext cx="2288322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PRESENTATION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571500" y="704850"/>
            <a:ext cx="4121222" cy="461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Business Benefits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7620000" y="4752975"/>
            <a:ext cx="598110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 / 16</a:t>
            </a:r>
            <a:endParaRPr lang="en-US" sz="1130" dirty="0"/>
          </a:p>
        </p:txBody>
      </p:sp>
      <p:sp>
        <p:nvSpPr>
          <p:cNvPr id="8" name="Shape 6"/>
          <p:cNvSpPr/>
          <p:nvPr/>
        </p:nvSpPr>
        <p:spPr>
          <a:xfrm>
            <a:off x="571500" y="1371600"/>
            <a:ext cx="3762375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66750" y="1519238"/>
            <a:ext cx="257175" cy="257175"/>
          </a:xfrm>
          <a:prstGeom prst="roundRect">
            <a:avLst>
              <a:gd name="adj" fmla="val 25926"/>
            </a:avLst>
          </a:prstGeom>
          <a:solidFill>
            <a:srgbClr val="1677E8"/>
          </a:solidFill>
          <a:ln/>
        </p:spPr>
      </p:sp>
      <p:sp>
        <p:nvSpPr>
          <p:cNvPr id="10" name="Text 8"/>
          <p:cNvSpPr/>
          <p:nvPr/>
        </p:nvSpPr>
        <p:spPr>
          <a:xfrm>
            <a:off x="666750" y="1444228"/>
            <a:ext cx="26078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130" dirty="0"/>
          </a:p>
        </p:txBody>
      </p:sp>
      <p:sp>
        <p:nvSpPr>
          <p:cNvPr id="11" name="Text 9"/>
          <p:cNvSpPr/>
          <p:nvPr/>
        </p:nvSpPr>
        <p:spPr>
          <a:xfrm>
            <a:off x="1038225" y="1514475"/>
            <a:ext cx="3288886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Monitor sales performance.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71500" y="2066925"/>
            <a:ext cx="3762375" cy="552450"/>
          </a:xfrm>
          <a:prstGeom prst="roundRect">
            <a:avLst>
              <a:gd name="adj" fmla="val 13793"/>
            </a:avLst>
          </a:prstGeom>
          <a:solidFill>
            <a:srgbClr val="E7F1FF"/>
          </a:solidFill>
          <a:ln/>
        </p:spPr>
      </p:sp>
      <p:sp>
        <p:nvSpPr>
          <p:cNvPr id="13" name="Shape 11"/>
          <p:cNvSpPr/>
          <p:nvPr/>
        </p:nvSpPr>
        <p:spPr>
          <a:xfrm>
            <a:off x="666750" y="2214563"/>
            <a:ext cx="257175" cy="257175"/>
          </a:xfrm>
          <a:prstGeom prst="roundRect">
            <a:avLst>
              <a:gd name="adj" fmla="val 25926"/>
            </a:avLst>
          </a:prstGeom>
          <a:solidFill>
            <a:srgbClr val="1677E8"/>
          </a:solidFill>
          <a:ln/>
        </p:spPr>
      </p:sp>
      <p:sp>
        <p:nvSpPr>
          <p:cNvPr id="14" name="Text 12"/>
          <p:cNvSpPr/>
          <p:nvPr/>
        </p:nvSpPr>
        <p:spPr>
          <a:xfrm>
            <a:off x="666750" y="2139553"/>
            <a:ext cx="289999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130" dirty="0"/>
          </a:p>
        </p:txBody>
      </p:sp>
      <p:sp>
        <p:nvSpPr>
          <p:cNvPr id="15" name="Text 13"/>
          <p:cNvSpPr/>
          <p:nvPr/>
        </p:nvSpPr>
        <p:spPr>
          <a:xfrm>
            <a:off x="1038225" y="2209800"/>
            <a:ext cx="2766596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Track product demand.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71500" y="2762250"/>
            <a:ext cx="3762375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66750" y="2909888"/>
            <a:ext cx="257175" cy="257175"/>
          </a:xfrm>
          <a:prstGeom prst="roundRect">
            <a:avLst>
              <a:gd name="adj" fmla="val 25926"/>
            </a:avLst>
          </a:prstGeom>
          <a:solidFill>
            <a:srgbClr val="1677E8"/>
          </a:solidFill>
          <a:ln/>
        </p:spPr>
      </p:sp>
      <p:sp>
        <p:nvSpPr>
          <p:cNvPr id="18" name="Text 16"/>
          <p:cNvSpPr/>
          <p:nvPr/>
        </p:nvSpPr>
        <p:spPr>
          <a:xfrm>
            <a:off x="666750" y="2834878"/>
            <a:ext cx="287387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130" dirty="0"/>
          </a:p>
        </p:txBody>
      </p:sp>
      <p:sp>
        <p:nvSpPr>
          <p:cNvPr id="19" name="Text 17"/>
          <p:cNvSpPr/>
          <p:nvPr/>
        </p:nvSpPr>
        <p:spPr>
          <a:xfrm>
            <a:off x="1038225" y="2838450"/>
            <a:ext cx="2955913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Identify high-performing</a:t>
            </a:r>
            <a:endParaRPr lang="en-US" sz="150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products.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71500" y="3457575"/>
            <a:ext cx="3762375" cy="552450"/>
          </a:xfrm>
          <a:prstGeom prst="roundRect">
            <a:avLst>
              <a:gd name="adj" fmla="val 13793"/>
            </a:avLst>
          </a:prstGeom>
          <a:solidFill>
            <a:srgbClr val="E7F1FF"/>
          </a:solidFill>
          <a:ln/>
        </p:spPr>
      </p:sp>
      <p:sp>
        <p:nvSpPr>
          <p:cNvPr id="21" name="Shape 19"/>
          <p:cNvSpPr/>
          <p:nvPr/>
        </p:nvSpPr>
        <p:spPr>
          <a:xfrm>
            <a:off x="666750" y="3605212"/>
            <a:ext cx="257175" cy="257175"/>
          </a:xfrm>
          <a:prstGeom prst="roundRect">
            <a:avLst>
              <a:gd name="adj" fmla="val 25926"/>
            </a:avLst>
          </a:prstGeom>
          <a:solidFill>
            <a:srgbClr val="1677E8"/>
          </a:solidFill>
          <a:ln/>
        </p:spPr>
      </p:sp>
      <p:sp>
        <p:nvSpPr>
          <p:cNvPr id="22" name="Text 20"/>
          <p:cNvSpPr/>
          <p:nvPr/>
        </p:nvSpPr>
        <p:spPr>
          <a:xfrm>
            <a:off x="666750" y="3530203"/>
            <a:ext cx="292418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130" dirty="0"/>
          </a:p>
        </p:txBody>
      </p:sp>
      <p:sp>
        <p:nvSpPr>
          <p:cNvPr id="23" name="Text 21"/>
          <p:cNvSpPr/>
          <p:nvPr/>
        </p:nvSpPr>
        <p:spPr>
          <a:xfrm>
            <a:off x="1038225" y="3600450"/>
            <a:ext cx="3889244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Compare brands and categories.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0" y="1371600"/>
            <a:ext cx="3762375" cy="552450"/>
          </a:xfrm>
          <a:prstGeom prst="roundRect">
            <a:avLst>
              <a:gd name="adj" fmla="val 13793"/>
            </a:avLst>
          </a:prstGeom>
          <a:solidFill>
            <a:srgbClr val="E7F1FF"/>
          </a:solidFill>
          <a:ln/>
        </p:spPr>
      </p:sp>
      <p:sp>
        <p:nvSpPr>
          <p:cNvPr id="25" name="Shape 23"/>
          <p:cNvSpPr/>
          <p:nvPr/>
        </p:nvSpPr>
        <p:spPr>
          <a:xfrm>
            <a:off x="4667250" y="1519238"/>
            <a:ext cx="257175" cy="257175"/>
          </a:xfrm>
          <a:prstGeom prst="roundRect">
            <a:avLst>
              <a:gd name="adj" fmla="val 25926"/>
            </a:avLst>
          </a:prstGeom>
          <a:solidFill>
            <a:srgbClr val="1677E8"/>
          </a:solidFill>
          <a:ln/>
        </p:spPr>
      </p:sp>
      <p:sp>
        <p:nvSpPr>
          <p:cNvPr id="26" name="Text 24"/>
          <p:cNvSpPr/>
          <p:nvPr/>
        </p:nvSpPr>
        <p:spPr>
          <a:xfrm>
            <a:off x="4667250" y="1444228"/>
            <a:ext cx="288258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130" dirty="0"/>
          </a:p>
        </p:txBody>
      </p:sp>
      <p:sp>
        <p:nvSpPr>
          <p:cNvPr id="27" name="Text 25"/>
          <p:cNvSpPr/>
          <p:nvPr/>
        </p:nvSpPr>
        <p:spPr>
          <a:xfrm>
            <a:off x="5038725" y="1514475"/>
            <a:ext cx="3321293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Analyze geographical sales.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0" y="2066925"/>
            <a:ext cx="3762375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667250" y="2214563"/>
            <a:ext cx="257175" cy="257175"/>
          </a:xfrm>
          <a:prstGeom prst="roundRect">
            <a:avLst>
              <a:gd name="adj" fmla="val 25926"/>
            </a:avLst>
          </a:prstGeom>
          <a:solidFill>
            <a:srgbClr val="1677E8"/>
          </a:solidFill>
          <a:ln/>
        </p:spPr>
      </p:sp>
      <p:sp>
        <p:nvSpPr>
          <p:cNvPr id="30" name="Text 28"/>
          <p:cNvSpPr/>
          <p:nvPr/>
        </p:nvSpPr>
        <p:spPr>
          <a:xfrm>
            <a:off x="4667250" y="2139553"/>
            <a:ext cx="294836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1130" dirty="0"/>
          </a:p>
        </p:txBody>
      </p:sp>
      <p:sp>
        <p:nvSpPr>
          <p:cNvPr id="31" name="Text 29"/>
          <p:cNvSpPr/>
          <p:nvPr/>
        </p:nvSpPr>
        <p:spPr>
          <a:xfrm>
            <a:off x="5038725" y="2257425"/>
            <a:ext cx="4116095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Monitor cancellations and returns.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0" y="2762250"/>
            <a:ext cx="3762375" cy="552450"/>
          </a:xfrm>
          <a:prstGeom prst="roundRect">
            <a:avLst>
              <a:gd name="adj" fmla="val 13793"/>
            </a:avLst>
          </a:prstGeom>
          <a:solidFill>
            <a:srgbClr val="E7F1FF"/>
          </a:solidFill>
          <a:ln/>
        </p:spPr>
      </p:sp>
      <p:sp>
        <p:nvSpPr>
          <p:cNvPr id="33" name="Shape 31"/>
          <p:cNvSpPr/>
          <p:nvPr/>
        </p:nvSpPr>
        <p:spPr>
          <a:xfrm>
            <a:off x="4667250" y="2909888"/>
            <a:ext cx="257175" cy="257175"/>
          </a:xfrm>
          <a:prstGeom prst="roundRect">
            <a:avLst>
              <a:gd name="adj" fmla="val 25926"/>
            </a:avLst>
          </a:prstGeom>
          <a:solidFill>
            <a:srgbClr val="1677E8"/>
          </a:solidFill>
          <a:ln/>
        </p:spPr>
      </p:sp>
      <p:sp>
        <p:nvSpPr>
          <p:cNvPr id="34" name="Text 32"/>
          <p:cNvSpPr/>
          <p:nvPr/>
        </p:nvSpPr>
        <p:spPr>
          <a:xfrm>
            <a:off x="4667250" y="2834878"/>
            <a:ext cx="278487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1130" dirty="0"/>
          </a:p>
        </p:txBody>
      </p:sp>
      <p:sp>
        <p:nvSpPr>
          <p:cNvPr id="35" name="Text 33"/>
          <p:cNvSpPr/>
          <p:nvPr/>
        </p:nvSpPr>
        <p:spPr>
          <a:xfrm>
            <a:off x="5038725" y="2838450"/>
            <a:ext cx="3725853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Understand customer payment</a:t>
            </a:r>
            <a:endParaRPr lang="en-US" sz="1500" dirty="0"/>
          </a:p>
          <a:p>
            <a:pPr marL="0" indent="0" algn="l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preferences.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572000" y="3457575"/>
            <a:ext cx="3762375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7250" y="3605212"/>
            <a:ext cx="257175" cy="257175"/>
          </a:xfrm>
          <a:prstGeom prst="roundRect">
            <a:avLst>
              <a:gd name="adj" fmla="val 25926"/>
            </a:avLst>
          </a:prstGeom>
          <a:solidFill>
            <a:srgbClr val="1677E8"/>
          </a:solidFill>
          <a:ln/>
        </p:spPr>
      </p:sp>
      <p:sp>
        <p:nvSpPr>
          <p:cNvPr id="38" name="Text 36"/>
          <p:cNvSpPr/>
          <p:nvPr/>
        </p:nvSpPr>
        <p:spPr>
          <a:xfrm>
            <a:off x="4667250" y="3530203"/>
            <a:ext cx="293191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1130" dirty="0"/>
          </a:p>
        </p:txBody>
      </p:sp>
      <p:sp>
        <p:nvSpPr>
          <p:cNvPr id="39" name="Text 37"/>
          <p:cNvSpPr/>
          <p:nvPr/>
        </p:nvSpPr>
        <p:spPr>
          <a:xfrm>
            <a:off x="5038725" y="3529013"/>
            <a:ext cx="3604736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Support data-driven decision-making.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0" y="447675"/>
            <a:ext cx="266700" cy="38100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523875"/>
            <a:ext cx="2288322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PRESENTATION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571500" y="704850"/>
            <a:ext cx="2578343" cy="461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Conclusion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7620000" y="4752975"/>
            <a:ext cx="60304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 / 16</a:t>
            </a:r>
            <a:endParaRPr lang="en-US" sz="1130" dirty="0"/>
          </a:p>
        </p:txBody>
      </p:sp>
      <p:sp>
        <p:nvSpPr>
          <p:cNvPr id="8" name="Shape 6"/>
          <p:cNvSpPr/>
          <p:nvPr/>
        </p:nvSpPr>
        <p:spPr>
          <a:xfrm>
            <a:off x="571500" y="1362075"/>
            <a:ext cx="376237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76275" y="1457325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0" name="Text 8"/>
          <p:cNvSpPr/>
          <p:nvPr/>
        </p:nvSpPr>
        <p:spPr>
          <a:xfrm>
            <a:off x="676275" y="1504950"/>
            <a:ext cx="274327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9650" y="1447800"/>
            <a:ext cx="380682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dashboard provides a clear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09650" y="1661145"/>
            <a:ext cx="413650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view of Amazon sales and product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9650" y="1874490"/>
            <a:ext cx="167732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performance.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1362075"/>
            <a:ext cx="3762375" cy="809625"/>
          </a:xfrm>
          <a:prstGeom prst="roundRect">
            <a:avLst>
              <a:gd name="adj" fmla="val 9412"/>
            </a:avLst>
          </a:prstGeom>
          <a:solidFill>
            <a:srgbClr val="E7F1FF"/>
          </a:solidFill>
          <a:ln/>
        </p:spPr>
      </p:sp>
      <p:sp>
        <p:nvSpPr>
          <p:cNvPr id="15" name="Shape 13"/>
          <p:cNvSpPr/>
          <p:nvPr/>
        </p:nvSpPr>
        <p:spPr>
          <a:xfrm>
            <a:off x="4676775" y="1457325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6" name="Text 14"/>
          <p:cNvSpPr/>
          <p:nvPr/>
        </p:nvSpPr>
        <p:spPr>
          <a:xfrm>
            <a:off x="4676775" y="1504950"/>
            <a:ext cx="30557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10150" y="1447800"/>
            <a:ext cx="3410389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Power BI was used to create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10150" y="1661145"/>
            <a:ext cx="313371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interactive visual reports.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71500" y="2324100"/>
            <a:ext cx="3762375" cy="809625"/>
          </a:xfrm>
          <a:prstGeom prst="roundRect">
            <a:avLst>
              <a:gd name="adj" fmla="val 9412"/>
            </a:avLst>
          </a:prstGeom>
          <a:solidFill>
            <a:srgbClr val="E7F1FF"/>
          </a:solidFill>
          <a:ln/>
        </p:spPr>
      </p:sp>
      <p:sp>
        <p:nvSpPr>
          <p:cNvPr id="20" name="Shape 18"/>
          <p:cNvSpPr/>
          <p:nvPr/>
        </p:nvSpPr>
        <p:spPr>
          <a:xfrm>
            <a:off x="676275" y="241935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21" name="Text 19"/>
          <p:cNvSpPr/>
          <p:nvPr/>
        </p:nvSpPr>
        <p:spPr>
          <a:xfrm>
            <a:off x="676275" y="2466975"/>
            <a:ext cx="302768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9650" y="2409825"/>
            <a:ext cx="322194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KPIs and charts make data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09650" y="2623170"/>
            <a:ext cx="1878442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analysis easier.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0" y="2324100"/>
            <a:ext cx="376237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4676775" y="241935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26" name="Text 24"/>
          <p:cNvSpPr/>
          <p:nvPr/>
        </p:nvSpPr>
        <p:spPr>
          <a:xfrm>
            <a:off x="4676775" y="2466975"/>
            <a:ext cx="30808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10150" y="2409825"/>
            <a:ext cx="409713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Sales page focuses on overall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010150" y="2623170"/>
            <a:ext cx="2091846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 and orders.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71500" y="3286125"/>
            <a:ext cx="3762375" cy="809625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676275" y="3381375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6275" y="3429000"/>
            <a:ext cx="30363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9650" y="3371850"/>
            <a:ext cx="356865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Product page focuses on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009650" y="3585195"/>
            <a:ext cx="3492326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products, brands, cities, and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9650" y="3798540"/>
            <a:ext cx="1327420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payments.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4572000" y="3286125"/>
            <a:ext cx="3762375" cy="809625"/>
          </a:xfrm>
          <a:prstGeom prst="roundRect">
            <a:avLst>
              <a:gd name="adj" fmla="val 9412"/>
            </a:avLst>
          </a:prstGeom>
          <a:solidFill>
            <a:srgbClr val="E7F1FF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6775" y="3381375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37" name="Text 35"/>
          <p:cNvSpPr/>
          <p:nvPr/>
        </p:nvSpPr>
        <p:spPr>
          <a:xfrm>
            <a:off x="4676775" y="3429000"/>
            <a:ext cx="310701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010150" y="3371850"/>
            <a:ext cx="4019550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project improved my skills in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5010150" y="3585195"/>
            <a:ext cx="3824235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Power BI, data visualization, KPI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5010150" y="3798540"/>
            <a:ext cx="297158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analysis, and dashboard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5010150" y="4011885"/>
            <a:ext cx="169541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development.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B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0" y="447675"/>
            <a:ext cx="266700" cy="38100"/>
          </a:xfrm>
          <a:prstGeom prst="rect">
            <a:avLst/>
          </a:prstGeom>
          <a:solidFill>
            <a:srgbClr val="1677E8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523875"/>
            <a:ext cx="2288322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PRESENTATION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571500" y="704850"/>
            <a:ext cx="3092120" cy="461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Scope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7620000" y="4752975"/>
            <a:ext cx="59888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5C6F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 / 16</a:t>
            </a:r>
            <a:endParaRPr lang="en-US" sz="1130" dirty="0"/>
          </a:p>
        </p:txBody>
      </p:sp>
      <p:sp>
        <p:nvSpPr>
          <p:cNvPr id="8" name="Shape 6"/>
          <p:cNvSpPr/>
          <p:nvPr/>
        </p:nvSpPr>
        <p:spPr>
          <a:xfrm>
            <a:off x="571500" y="13906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76275" y="14859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0" name="Text 8"/>
          <p:cNvSpPr/>
          <p:nvPr/>
        </p:nvSpPr>
        <p:spPr>
          <a:xfrm>
            <a:off x="676275" y="1533525"/>
            <a:ext cx="274327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9650" y="1476375"/>
            <a:ext cx="185938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Customer-level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09650" y="1689720"/>
            <a:ext cx="1113629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analysis.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181350" y="13906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E7F1FF"/>
          </a:solidFill>
          <a:ln/>
        </p:spPr>
      </p:sp>
      <p:sp>
        <p:nvSpPr>
          <p:cNvPr id="14" name="Shape 12"/>
          <p:cNvSpPr/>
          <p:nvPr/>
        </p:nvSpPr>
        <p:spPr>
          <a:xfrm>
            <a:off x="3286125" y="14859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15" name="Text 13"/>
          <p:cNvSpPr/>
          <p:nvPr/>
        </p:nvSpPr>
        <p:spPr>
          <a:xfrm>
            <a:off x="3286125" y="1533525"/>
            <a:ext cx="30557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19500" y="1476375"/>
            <a:ext cx="1986402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Profit and profit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19500" y="1689720"/>
            <a:ext cx="200120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margin analysis.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791200" y="13906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5895975" y="14859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20" name="Text 18"/>
          <p:cNvSpPr/>
          <p:nvPr/>
        </p:nvSpPr>
        <p:spPr>
          <a:xfrm>
            <a:off x="5895975" y="1533525"/>
            <a:ext cx="302768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29350" y="1476375"/>
            <a:ext cx="120901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Customer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29350" y="1689720"/>
            <a:ext cx="179524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segmentation.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71500" y="23431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E7F1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76275" y="24384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25" name="Text 23"/>
          <p:cNvSpPr/>
          <p:nvPr/>
        </p:nvSpPr>
        <p:spPr>
          <a:xfrm>
            <a:off x="676275" y="2486025"/>
            <a:ext cx="30808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09650" y="2428875"/>
            <a:ext cx="109360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Regional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09650" y="2642220"/>
            <a:ext cx="160496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performance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09650" y="2855565"/>
            <a:ext cx="1538116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comparison.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3181350" y="23431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86125" y="24384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31" name="Text 29"/>
          <p:cNvSpPr/>
          <p:nvPr/>
        </p:nvSpPr>
        <p:spPr>
          <a:xfrm>
            <a:off x="3286125" y="2486025"/>
            <a:ext cx="30363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19500" y="2428875"/>
            <a:ext cx="2221669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 forecasting.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791200" y="23431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E7F1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895975" y="24384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35" name="Text 33"/>
          <p:cNvSpPr/>
          <p:nvPr/>
        </p:nvSpPr>
        <p:spPr>
          <a:xfrm>
            <a:off x="5895975" y="2486025"/>
            <a:ext cx="310701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229350" y="2428875"/>
            <a:ext cx="1789539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Advanced DAX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229350" y="2642220"/>
            <a:ext cx="1276149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measures.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71500" y="32956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676275" y="33909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40" name="Text 38"/>
          <p:cNvSpPr/>
          <p:nvPr/>
        </p:nvSpPr>
        <p:spPr>
          <a:xfrm>
            <a:off x="676275" y="3438525"/>
            <a:ext cx="293288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09650" y="3381375"/>
            <a:ext cx="1993076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Automated data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09650" y="3594720"/>
            <a:ext cx="99038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refresh.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3181350" y="32956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E7F1FF"/>
          </a:solidFill>
          <a:ln/>
        </p:spPr>
      </p:sp>
      <p:sp>
        <p:nvSpPr>
          <p:cNvPr id="44" name="Shape 42"/>
          <p:cNvSpPr/>
          <p:nvPr/>
        </p:nvSpPr>
        <p:spPr>
          <a:xfrm>
            <a:off x="3286125" y="33909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45" name="Text 43"/>
          <p:cNvSpPr/>
          <p:nvPr/>
        </p:nvSpPr>
        <p:spPr>
          <a:xfrm>
            <a:off x="3286125" y="3438525"/>
            <a:ext cx="30886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619500" y="3381375"/>
            <a:ext cx="1593160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Drill-through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3619500" y="3594720"/>
            <a:ext cx="1017858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reports.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5791200" y="3295650"/>
            <a:ext cx="2428875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5895975" y="3390900"/>
            <a:ext cx="238125" cy="219075"/>
          </a:xfrm>
          <a:prstGeom prst="roundRect">
            <a:avLst>
              <a:gd name="adj" fmla="val 21739"/>
            </a:avLst>
          </a:prstGeom>
          <a:solidFill>
            <a:srgbClr val="E7F1FF"/>
          </a:solidFill>
          <a:ln/>
        </p:spPr>
      </p:sp>
      <p:sp>
        <p:nvSpPr>
          <p:cNvPr id="50" name="Text 48"/>
          <p:cNvSpPr/>
          <p:nvPr/>
        </p:nvSpPr>
        <p:spPr>
          <a:xfrm>
            <a:off x="5895975" y="3438525"/>
            <a:ext cx="310701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7E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229350" y="3381375"/>
            <a:ext cx="1905141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Mobile-friendly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229350" y="3594720"/>
            <a:ext cx="141777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3253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dashboard.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3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34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" name="Shape 2"/>
          <p:cNvSpPr/>
          <p:nvPr/>
        </p:nvSpPr>
        <p:spPr>
          <a:xfrm>
            <a:off x="571500" y="857250"/>
            <a:ext cx="438150" cy="38100"/>
          </a:xfrm>
          <a:prstGeom prst="rect">
            <a:avLst/>
          </a:prstGeom>
          <a:solidFill>
            <a:srgbClr val="F4C542"/>
          </a:solidFill>
          <a:ln/>
        </p:spPr>
      </p:sp>
      <p:sp>
        <p:nvSpPr>
          <p:cNvPr id="5" name="Text 3"/>
          <p:cNvSpPr/>
          <p:nvPr/>
        </p:nvSpPr>
        <p:spPr>
          <a:xfrm>
            <a:off x="571500" y="1128713"/>
            <a:ext cx="4306476" cy="776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71500" y="1995487"/>
            <a:ext cx="6177781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80" dirty="0">
                <a:solidFill>
                  <a:srgbClr val="E7F1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Thank you for giving me the opportunity to</a:t>
            </a:r>
            <a:endParaRPr lang="en-US" sz="1880" dirty="0"/>
          </a:p>
        </p:txBody>
      </p:sp>
      <p:sp>
        <p:nvSpPr>
          <p:cNvPr id="7" name="Text 5"/>
          <p:cNvSpPr/>
          <p:nvPr/>
        </p:nvSpPr>
        <p:spPr>
          <a:xfrm>
            <a:off x="571500" y="2293144"/>
            <a:ext cx="288007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80" dirty="0">
                <a:solidFill>
                  <a:srgbClr val="E7F1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present my project.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571500" y="2995613"/>
            <a:ext cx="3727110" cy="328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2030" dirty="0"/>
          </a:p>
        </p:txBody>
      </p:sp>
      <p:sp>
        <p:nvSpPr>
          <p:cNvPr id="9" name="Text 7"/>
          <p:cNvSpPr/>
          <p:nvPr/>
        </p:nvSpPr>
        <p:spPr>
          <a:xfrm>
            <a:off x="571500" y="3800475"/>
            <a:ext cx="144360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80" b="1" dirty="0">
                <a:solidFill>
                  <a:srgbClr val="E7F1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Presented by: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571500" y="4024312"/>
            <a:ext cx="2676049" cy="3667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 err="1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Divyabharathi.E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6905625" y="2095500"/>
            <a:ext cx="342900" cy="1285875"/>
          </a:xfrm>
          <a:prstGeom prst="roundRect">
            <a:avLst>
              <a:gd name="adj" fmla="val 25000"/>
            </a:avLst>
          </a:prstGeom>
          <a:solidFill>
            <a:srgbClr val="1677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372350" y="1657350"/>
            <a:ext cx="342900" cy="1724025"/>
          </a:xfrm>
          <a:prstGeom prst="roundRect">
            <a:avLst>
              <a:gd name="adj" fmla="val 25000"/>
            </a:avLst>
          </a:prstGeom>
          <a:solidFill>
            <a:srgbClr val="F4C542"/>
          </a:solidFill>
          <a:ln/>
        </p:spPr>
      </p:sp>
      <p:sp>
        <p:nvSpPr>
          <p:cNvPr id="13" name="Shape 11"/>
          <p:cNvSpPr/>
          <p:nvPr/>
        </p:nvSpPr>
        <p:spPr>
          <a:xfrm>
            <a:off x="7839075" y="1209675"/>
            <a:ext cx="342900" cy="2171700"/>
          </a:xfrm>
          <a:prstGeom prst="roundRect">
            <a:avLst>
              <a:gd name="adj" fmla="val 25000"/>
            </a:avLst>
          </a:prstGeom>
          <a:solidFill>
            <a:srgbClr val="1677E8"/>
          </a:solidFill>
          <a:ln/>
        </p:spPr>
      </p:sp>
      <p:sp>
        <p:nvSpPr>
          <p:cNvPr id="14" name="Text 12"/>
          <p:cNvSpPr/>
          <p:nvPr/>
        </p:nvSpPr>
        <p:spPr>
          <a:xfrm>
            <a:off x="7620000" y="4752975"/>
            <a:ext cx="605463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E7F1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 / 16</a:t>
            </a:r>
            <a:endParaRPr lang="en-US" sz="11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</TotalTime>
  <Words>1281</Words>
  <Application>Microsoft Office PowerPoint</Application>
  <PresentationFormat>On-screen Show (16:9)</PresentationFormat>
  <Paragraphs>389</Paragraphs>
  <Slides>26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Manrope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Gokilavani . M</cp:lastModifiedBy>
  <cp:revision>13</cp:revision>
  <dcterms:created xsi:type="dcterms:W3CDTF">2026-09-30T09:43:34Z</dcterms:created>
  <dcterms:modified xsi:type="dcterms:W3CDTF">2026-10-01T09:42:03Z</dcterms:modified>
</cp:coreProperties>
</file>